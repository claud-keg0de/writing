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scaleToFitPaper="1"/>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D89DFC-54BC-4E00-9D89-1966120505AC}" v="3" dt="2026-03-20T13:14:38.9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2" d="100"/>
          <a:sy n="82" d="100"/>
        </p:scale>
        <p:origin x="8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 Kegode" userId="d1086b1ca7b70efb" providerId="LiveId" clId="{B5E46B50-B40B-4E63-BB73-C0DA904CAD38}"/>
    <pc:docChg chg="modNotesMaster">
      <pc:chgData name="Clau Kegode" userId="d1086b1ca7b70efb" providerId="LiveId" clId="{B5E46B50-B40B-4E63-BB73-C0DA904CAD38}" dt="2026-03-20T13:14:38.984" v="2"/>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1"/>
            <a:ext cx="3169920" cy="481727"/>
          </a:xfrm>
          <a:prstGeom prst="rect">
            <a:avLst/>
          </a:prstGeom>
        </p:spPr>
        <p:txBody>
          <a:bodyPr vert="horz" lIns="96661" tIns="48331" rIns="96661" bIns="48331" rtlCol="0"/>
          <a:lstStyle>
            <a:lvl1pPr algn="r">
              <a:defRPr sz="1300"/>
            </a:lvl1pPr>
          </a:lstStyle>
          <a:p>
            <a:fld id="{43C14D7C-B5AF-466B-9E5C-963337F501A8}" type="datetimeFigureOut">
              <a:rPr lang="en-US" smtClean="0"/>
              <a:t>3/20/2026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4"/>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61" tIns="48331" rIns="96661" bIns="48331" rtlCol="0" anchor="b"/>
          <a:lstStyle>
            <a:lvl1pPr algn="r">
              <a:defRPr sz="1300"/>
            </a:lvl1pPr>
          </a:lstStyle>
          <a:p>
            <a:fld id="{B56E1072-BEAA-412F-8EA7-C9DE1918248D}" type="slidenum">
              <a:rPr lang="en-US" smtClean="0"/>
              <a:t>‹#›</a:t>
            </a:fld>
            <a:endParaRPr lang="en-US"/>
          </a:p>
        </p:txBody>
      </p:sp>
    </p:spTree>
    <p:extLst>
      <p:ext uri="{BB962C8B-B14F-4D97-AF65-F5344CB8AC3E}">
        <p14:creationId xmlns:p14="http://schemas.microsoft.com/office/powerpoint/2010/main" val="2939698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56E1072-BEAA-412F-8EA7-C9DE1918248D}" type="slidenum">
              <a:rPr lang="en-US" smtClean="0"/>
              <a:t>1</a:t>
            </a:fld>
            <a:endParaRPr lang="en-US"/>
          </a:p>
        </p:txBody>
      </p:sp>
    </p:spTree>
    <p:extLst>
      <p:ext uri="{BB962C8B-B14F-4D97-AF65-F5344CB8AC3E}">
        <p14:creationId xmlns:p14="http://schemas.microsoft.com/office/powerpoint/2010/main" val="3000715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dirty="0"/>
              <a:t>Sustainability refers to the manner in which we use resources and make decisions today. It does not give organizations an incentive to think about long-term impacts but rather concentrates on such impacts only when the immediate rewards are taken into account. This includes ensuring that this current operation will not give the future generation problems or cause the environment problems.</a:t>
            </a:r>
          </a:p>
          <a:p>
            <a:endParaRPr lang="en-US" dirty="0"/>
          </a:p>
        </p:txBody>
      </p:sp>
      <p:sp>
        <p:nvSpPr>
          <p:cNvPr id="4" name="Slide Number Placeholder 3"/>
          <p:cNvSpPr>
            <a:spLocks noGrp="1"/>
          </p:cNvSpPr>
          <p:nvPr>
            <p:ph type="sldNum" sz="quarter" idx="5"/>
          </p:nvPr>
        </p:nvSpPr>
        <p:spPr/>
        <p:txBody>
          <a:bodyPr/>
          <a:lstStyle/>
          <a:p>
            <a:fld id="{B56E1072-BEAA-412F-8EA7-C9DE1918248D}" type="slidenum">
              <a:rPr lang="en-US" smtClean="0"/>
              <a:t>2</a:t>
            </a:fld>
            <a:endParaRPr lang="en-US"/>
          </a:p>
        </p:txBody>
      </p:sp>
    </p:spTree>
    <p:extLst>
      <p:ext uri="{BB962C8B-B14F-4D97-AF65-F5344CB8AC3E}">
        <p14:creationId xmlns:p14="http://schemas.microsoft.com/office/powerpoint/2010/main" val="2310848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21082-67CA-80AA-9A82-C14557382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25256-0C96-8B33-4611-B8D5F87BB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99E70-B14B-6809-2C77-8D8D9FF4E742}"/>
              </a:ext>
            </a:extLst>
          </p:cNvPr>
          <p:cNvSpPr>
            <a:spLocks noGrp="1"/>
          </p:cNvSpPr>
          <p:nvPr>
            <p:ph type="body" idx="1"/>
          </p:nvPr>
        </p:nvSpPr>
        <p:spPr/>
        <p:txBody>
          <a:bodyPr/>
          <a:lstStyle/>
          <a:p>
            <a:r>
              <a:rPr lang="en-US" sz="1300" dirty="0"/>
              <a:t>There are three major areas on which sustainability is typically discussed. The former is environmental that comprises environmental protection. The second one is social, which is people and community oriented. The third is the economic, which makes the organization financially stable. The three areas are all interrelated and must be set into balance.</a:t>
            </a:r>
          </a:p>
        </p:txBody>
      </p:sp>
      <p:sp>
        <p:nvSpPr>
          <p:cNvPr id="4" name="Slide Number Placeholder 3">
            <a:extLst>
              <a:ext uri="{FF2B5EF4-FFF2-40B4-BE49-F238E27FC236}">
                <a16:creationId xmlns:a16="http://schemas.microsoft.com/office/drawing/2014/main" id="{0DC5D6E0-20D9-49A3-CDBF-7461E5642E15}"/>
              </a:ext>
            </a:extLst>
          </p:cNvPr>
          <p:cNvSpPr>
            <a:spLocks noGrp="1"/>
          </p:cNvSpPr>
          <p:nvPr>
            <p:ph type="sldNum" sz="quarter" idx="5"/>
          </p:nvPr>
        </p:nvSpPr>
        <p:spPr/>
        <p:txBody>
          <a:bodyPr/>
          <a:lstStyle/>
          <a:p>
            <a:fld id="{B56E1072-BEAA-412F-8EA7-C9DE1918248D}" type="slidenum">
              <a:rPr lang="en-US" smtClean="0"/>
              <a:t>3</a:t>
            </a:fld>
            <a:endParaRPr lang="en-US"/>
          </a:p>
        </p:txBody>
      </p:sp>
    </p:spTree>
    <p:extLst>
      <p:ext uri="{BB962C8B-B14F-4D97-AF65-F5344CB8AC3E}">
        <p14:creationId xmlns:p14="http://schemas.microsoft.com/office/powerpoint/2010/main" val="2721877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C512B-20C5-BD4E-4D4C-ECEFBF0C02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CA909-BD2F-4E74-B604-88AE2FE6C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71EE8-9B25-F518-8C03-4208D83671EC}"/>
              </a:ext>
            </a:extLst>
          </p:cNvPr>
          <p:cNvSpPr>
            <a:spLocks noGrp="1"/>
          </p:cNvSpPr>
          <p:nvPr>
            <p:ph type="body" idx="1"/>
          </p:nvPr>
        </p:nvSpPr>
        <p:spPr/>
        <p:txBody>
          <a:bodyPr/>
          <a:lstStyle/>
          <a:p>
            <a:r>
              <a:rPr lang="en-US" sz="1300" dirty="0"/>
              <a:t>In the case of sustainability in the business context, it gets easier to consider. Organizations involve the need to cut down on emissions, reduce the number of resources, and also decrease waste. Such activities not only contribute to a better environment but also result in efficiency and unnecessary spending reduction.</a:t>
            </a:r>
          </a:p>
        </p:txBody>
      </p:sp>
      <p:sp>
        <p:nvSpPr>
          <p:cNvPr id="4" name="Slide Number Placeholder 3">
            <a:extLst>
              <a:ext uri="{FF2B5EF4-FFF2-40B4-BE49-F238E27FC236}">
                <a16:creationId xmlns:a16="http://schemas.microsoft.com/office/drawing/2014/main" id="{890808DA-34E6-BC29-E291-611D0D580133}"/>
              </a:ext>
            </a:extLst>
          </p:cNvPr>
          <p:cNvSpPr>
            <a:spLocks noGrp="1"/>
          </p:cNvSpPr>
          <p:nvPr>
            <p:ph type="sldNum" sz="quarter" idx="5"/>
          </p:nvPr>
        </p:nvSpPr>
        <p:spPr/>
        <p:txBody>
          <a:bodyPr/>
          <a:lstStyle/>
          <a:p>
            <a:fld id="{B56E1072-BEAA-412F-8EA7-C9DE1918248D}" type="slidenum">
              <a:rPr lang="en-US" smtClean="0"/>
              <a:t>4</a:t>
            </a:fld>
            <a:endParaRPr lang="en-US"/>
          </a:p>
        </p:txBody>
      </p:sp>
    </p:spTree>
    <p:extLst>
      <p:ext uri="{BB962C8B-B14F-4D97-AF65-F5344CB8AC3E}">
        <p14:creationId xmlns:p14="http://schemas.microsoft.com/office/powerpoint/2010/main" val="1908840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3130B-010C-9644-A31B-DFB9931AB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1BEE3B-837B-37EE-8D90-9B8DAB8E0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DDA0AC-5867-2051-0FAB-37897DE50000}"/>
              </a:ext>
            </a:extLst>
          </p:cNvPr>
          <p:cNvSpPr>
            <a:spLocks noGrp="1"/>
          </p:cNvSpPr>
          <p:nvPr>
            <p:ph type="body" idx="1"/>
          </p:nvPr>
        </p:nvSpPr>
        <p:spPr/>
        <p:txBody>
          <a:bodyPr/>
          <a:lstStyle/>
          <a:p>
            <a:r>
              <a:rPr lang="en-US" sz="1300" dirty="0"/>
              <a:t>Organizations are progressively being pressured to act responsibly. Stricter regulations are being enforced, and businesses are called upon to be ethically responsible by the stakeholders. This involves ensuring that suppliers are also responsible.</a:t>
            </a:r>
          </a:p>
        </p:txBody>
      </p:sp>
      <p:sp>
        <p:nvSpPr>
          <p:cNvPr id="4" name="Slide Number Placeholder 3">
            <a:extLst>
              <a:ext uri="{FF2B5EF4-FFF2-40B4-BE49-F238E27FC236}">
                <a16:creationId xmlns:a16="http://schemas.microsoft.com/office/drawing/2014/main" id="{1431C5E2-1046-0168-233F-DFEA36A1F706}"/>
              </a:ext>
            </a:extLst>
          </p:cNvPr>
          <p:cNvSpPr>
            <a:spLocks noGrp="1"/>
          </p:cNvSpPr>
          <p:nvPr>
            <p:ph type="sldNum" sz="quarter" idx="5"/>
          </p:nvPr>
        </p:nvSpPr>
        <p:spPr/>
        <p:txBody>
          <a:bodyPr/>
          <a:lstStyle/>
          <a:p>
            <a:fld id="{B56E1072-BEAA-412F-8EA7-C9DE1918248D}" type="slidenum">
              <a:rPr lang="en-US" smtClean="0"/>
              <a:t>5</a:t>
            </a:fld>
            <a:endParaRPr lang="en-US"/>
          </a:p>
        </p:txBody>
      </p:sp>
    </p:spTree>
    <p:extLst>
      <p:ext uri="{BB962C8B-B14F-4D97-AF65-F5344CB8AC3E}">
        <p14:creationId xmlns:p14="http://schemas.microsoft.com/office/powerpoint/2010/main" val="38094971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2C5EA-9C8F-9D9A-B7B3-895B65AA6C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91E41-761C-42CD-8A0B-31D533920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14B41A-D894-8E9B-B82C-D3FC45864AD6}"/>
              </a:ext>
            </a:extLst>
          </p:cNvPr>
          <p:cNvSpPr>
            <a:spLocks noGrp="1"/>
          </p:cNvSpPr>
          <p:nvPr>
            <p:ph type="body" idx="1"/>
          </p:nvPr>
        </p:nvSpPr>
        <p:spPr/>
        <p:txBody>
          <a:bodyPr/>
          <a:lstStyle/>
          <a:p>
            <a:r>
              <a:rPr lang="en-US" sz="1300" dirty="0"/>
              <a:t>An Environmental Management System, or EMS, is a framework used to assist organizations to manage their environmental role. Rather than addressing problems ad hoc, it offers a decent organization in terms of planning, acting on, and upgrading environmental processes.</a:t>
            </a:r>
          </a:p>
        </p:txBody>
      </p:sp>
      <p:sp>
        <p:nvSpPr>
          <p:cNvPr id="4" name="Slide Number Placeholder 3">
            <a:extLst>
              <a:ext uri="{FF2B5EF4-FFF2-40B4-BE49-F238E27FC236}">
                <a16:creationId xmlns:a16="http://schemas.microsoft.com/office/drawing/2014/main" id="{F0F136CF-2297-994D-4DD9-14AEA80B260C}"/>
              </a:ext>
            </a:extLst>
          </p:cNvPr>
          <p:cNvSpPr>
            <a:spLocks noGrp="1"/>
          </p:cNvSpPr>
          <p:nvPr>
            <p:ph type="sldNum" sz="quarter" idx="5"/>
          </p:nvPr>
        </p:nvSpPr>
        <p:spPr/>
        <p:txBody>
          <a:bodyPr/>
          <a:lstStyle/>
          <a:p>
            <a:fld id="{B56E1072-BEAA-412F-8EA7-C9DE1918248D}" type="slidenum">
              <a:rPr lang="en-US" smtClean="0"/>
              <a:t>6</a:t>
            </a:fld>
            <a:endParaRPr lang="en-US"/>
          </a:p>
        </p:txBody>
      </p:sp>
    </p:spTree>
    <p:extLst>
      <p:ext uri="{BB962C8B-B14F-4D97-AF65-F5344CB8AC3E}">
        <p14:creationId xmlns:p14="http://schemas.microsoft.com/office/powerpoint/2010/main" val="1774609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9E0F9-EB52-4719-0E4E-8338F720E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F9EC58-66F9-9218-D48F-5F07B3288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F6291B-6498-1663-F1D2-EAC765595C17}"/>
              </a:ext>
            </a:extLst>
          </p:cNvPr>
          <p:cNvSpPr>
            <a:spLocks noGrp="1"/>
          </p:cNvSpPr>
          <p:nvPr>
            <p:ph type="body" idx="1"/>
          </p:nvPr>
        </p:nvSpPr>
        <p:spPr/>
        <p:txBody>
          <a:bodyPr/>
          <a:lstStyle/>
          <a:p>
            <a:r>
              <a:rPr lang="en-US" sz="1300" dirty="0"/>
              <a:t>The principal aim of an EMS is to enable organizations to have improved control over their environmental impact. It enables them to monitor performance, enhance efficiency, and ensure that they are adhering to all the applicable laws.</a:t>
            </a:r>
          </a:p>
        </p:txBody>
      </p:sp>
      <p:sp>
        <p:nvSpPr>
          <p:cNvPr id="4" name="Slide Number Placeholder 3">
            <a:extLst>
              <a:ext uri="{FF2B5EF4-FFF2-40B4-BE49-F238E27FC236}">
                <a16:creationId xmlns:a16="http://schemas.microsoft.com/office/drawing/2014/main" id="{D8C15521-D149-79DC-DDD4-DD4B32EFCD4E}"/>
              </a:ext>
            </a:extLst>
          </p:cNvPr>
          <p:cNvSpPr>
            <a:spLocks noGrp="1"/>
          </p:cNvSpPr>
          <p:nvPr>
            <p:ph type="sldNum" sz="quarter" idx="5"/>
          </p:nvPr>
        </p:nvSpPr>
        <p:spPr/>
        <p:txBody>
          <a:bodyPr/>
          <a:lstStyle/>
          <a:p>
            <a:fld id="{B56E1072-BEAA-412F-8EA7-C9DE1918248D}" type="slidenum">
              <a:rPr lang="en-US" smtClean="0"/>
              <a:t>7</a:t>
            </a:fld>
            <a:endParaRPr lang="en-US"/>
          </a:p>
        </p:txBody>
      </p:sp>
    </p:spTree>
    <p:extLst>
      <p:ext uri="{BB962C8B-B14F-4D97-AF65-F5344CB8AC3E}">
        <p14:creationId xmlns:p14="http://schemas.microsoft.com/office/powerpoint/2010/main" val="886961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BB97E-C5EB-B089-5902-0E5355E16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6259D-3408-76D0-7811-1B669834A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6D80C4-E8AF-84F1-1738-8A6473320407}"/>
              </a:ext>
            </a:extLst>
          </p:cNvPr>
          <p:cNvSpPr>
            <a:spLocks noGrp="1"/>
          </p:cNvSpPr>
          <p:nvPr>
            <p:ph type="body" idx="1"/>
          </p:nvPr>
        </p:nvSpPr>
        <p:spPr/>
        <p:txBody>
          <a:bodyPr/>
          <a:lstStyle/>
          <a:p>
            <a:r>
              <a:rPr lang="en-US" sz="1300" dirty="0"/>
              <a:t>EMS is a cyclical process. The organization, first of all, defines its environmental impacts and goals. Thereafter, it implements mechanisms to control those effects. It then evaluates the performance and lastly makes the improvements based on what happens to be learned.</a:t>
            </a:r>
          </a:p>
        </p:txBody>
      </p:sp>
      <p:sp>
        <p:nvSpPr>
          <p:cNvPr id="4" name="Slide Number Placeholder 3">
            <a:extLst>
              <a:ext uri="{FF2B5EF4-FFF2-40B4-BE49-F238E27FC236}">
                <a16:creationId xmlns:a16="http://schemas.microsoft.com/office/drawing/2014/main" id="{C73A4577-FA01-A3E6-AC2C-B1FE5002A8E0}"/>
              </a:ext>
            </a:extLst>
          </p:cNvPr>
          <p:cNvSpPr>
            <a:spLocks noGrp="1"/>
          </p:cNvSpPr>
          <p:nvPr>
            <p:ph type="sldNum" sz="quarter" idx="5"/>
          </p:nvPr>
        </p:nvSpPr>
        <p:spPr/>
        <p:txBody>
          <a:bodyPr/>
          <a:lstStyle/>
          <a:p>
            <a:fld id="{B56E1072-BEAA-412F-8EA7-C9DE1918248D}" type="slidenum">
              <a:rPr lang="en-US" smtClean="0"/>
              <a:t>8</a:t>
            </a:fld>
            <a:endParaRPr lang="en-US"/>
          </a:p>
        </p:txBody>
      </p:sp>
    </p:spTree>
    <p:extLst>
      <p:ext uri="{BB962C8B-B14F-4D97-AF65-F5344CB8AC3E}">
        <p14:creationId xmlns:p14="http://schemas.microsoft.com/office/powerpoint/2010/main" val="3573205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3426F-BBC2-2B5A-23E6-05ED814ED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4A0B6-2E87-870E-0C4E-E9065B6E7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DF8F8-B1E8-7987-FC82-67E7D2504D39}"/>
              </a:ext>
            </a:extLst>
          </p:cNvPr>
          <p:cNvSpPr>
            <a:spLocks noGrp="1"/>
          </p:cNvSpPr>
          <p:nvPr>
            <p:ph type="body" idx="1"/>
          </p:nvPr>
        </p:nvSpPr>
        <p:spPr/>
        <p:txBody>
          <a:bodyPr/>
          <a:lstStyle/>
          <a:p>
            <a:r>
              <a:rPr lang="en-US" sz="1300" dirty="0"/>
              <a:t>Sustainability and EMS are the two terms that are intertwined. Sustainability provides a sense of direction by determining the goals the organization desires in the long run. EMS is the provider of the instruments and procedures required to put such goals into practice.</a:t>
            </a:r>
          </a:p>
        </p:txBody>
      </p:sp>
      <p:sp>
        <p:nvSpPr>
          <p:cNvPr id="4" name="Slide Number Placeholder 3">
            <a:extLst>
              <a:ext uri="{FF2B5EF4-FFF2-40B4-BE49-F238E27FC236}">
                <a16:creationId xmlns:a16="http://schemas.microsoft.com/office/drawing/2014/main" id="{2C7BE531-3092-160D-437A-5E245C9701B1}"/>
              </a:ext>
            </a:extLst>
          </p:cNvPr>
          <p:cNvSpPr>
            <a:spLocks noGrp="1"/>
          </p:cNvSpPr>
          <p:nvPr>
            <p:ph type="sldNum" sz="quarter" idx="5"/>
          </p:nvPr>
        </p:nvSpPr>
        <p:spPr/>
        <p:txBody>
          <a:bodyPr/>
          <a:lstStyle/>
          <a:p>
            <a:fld id="{B56E1072-BEAA-412F-8EA7-C9DE1918248D}" type="slidenum">
              <a:rPr lang="en-US" smtClean="0"/>
              <a:t>9</a:t>
            </a:fld>
            <a:endParaRPr lang="en-US"/>
          </a:p>
        </p:txBody>
      </p:sp>
    </p:spTree>
    <p:extLst>
      <p:ext uri="{BB962C8B-B14F-4D97-AF65-F5344CB8AC3E}">
        <p14:creationId xmlns:p14="http://schemas.microsoft.com/office/powerpoint/2010/main" val="2462906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A6BC1-8B43-20D1-445A-98DE40F50B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73B41-512B-3E24-9B87-1D15AFA897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722B5-13A2-AC8A-9395-1741A847E049}"/>
              </a:ext>
            </a:extLst>
          </p:cNvPr>
          <p:cNvSpPr>
            <a:spLocks noGrp="1"/>
          </p:cNvSpPr>
          <p:nvPr>
            <p:ph type="body" idx="1"/>
          </p:nvPr>
        </p:nvSpPr>
        <p:spPr/>
        <p:txBody>
          <a:bodyPr/>
          <a:lstStyle/>
          <a:p>
            <a:r>
              <a:rPr lang="en-US" sz="1300" dirty="0"/>
              <a:t>Sustainability is important when it comes to designing and implementing EMS. It urges organizations to be proactive, engage various stakeholders, and be concerned about the long-term gains, as opposed to finding short-term solutions.</a:t>
            </a:r>
          </a:p>
        </p:txBody>
      </p:sp>
      <p:sp>
        <p:nvSpPr>
          <p:cNvPr id="4" name="Slide Number Placeholder 3">
            <a:extLst>
              <a:ext uri="{FF2B5EF4-FFF2-40B4-BE49-F238E27FC236}">
                <a16:creationId xmlns:a16="http://schemas.microsoft.com/office/drawing/2014/main" id="{7D3BB907-A32D-EB9B-BB63-6A17C95E75AD}"/>
              </a:ext>
            </a:extLst>
          </p:cNvPr>
          <p:cNvSpPr>
            <a:spLocks noGrp="1"/>
          </p:cNvSpPr>
          <p:nvPr>
            <p:ph type="sldNum" sz="quarter" idx="5"/>
          </p:nvPr>
        </p:nvSpPr>
        <p:spPr/>
        <p:txBody>
          <a:bodyPr/>
          <a:lstStyle/>
          <a:p>
            <a:fld id="{B56E1072-BEAA-412F-8EA7-C9DE1918248D}" type="slidenum">
              <a:rPr lang="en-US" smtClean="0"/>
              <a:t>10</a:t>
            </a:fld>
            <a:endParaRPr lang="en-US"/>
          </a:p>
        </p:txBody>
      </p:sp>
    </p:spTree>
    <p:extLst>
      <p:ext uri="{BB962C8B-B14F-4D97-AF65-F5344CB8AC3E}">
        <p14:creationId xmlns:p14="http://schemas.microsoft.com/office/powerpoint/2010/main" val="1570386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dirty="0"/>
              <a:t>The importance of sustainability can be explained in a number of ways. Rules are getting tougher, climate change is sourcing out new threats, and resources are getting difficult to reach. Companies that fail to consider these determinants will be at a great risk in years to come.</a:t>
            </a:r>
          </a:p>
          <a:p>
            <a:endParaRPr lang="en-US" dirty="0"/>
          </a:p>
        </p:txBody>
      </p:sp>
      <p:sp>
        <p:nvSpPr>
          <p:cNvPr id="4" name="Slide Number Placeholder 3"/>
          <p:cNvSpPr>
            <a:spLocks noGrp="1"/>
          </p:cNvSpPr>
          <p:nvPr>
            <p:ph type="sldNum" sz="quarter" idx="5"/>
          </p:nvPr>
        </p:nvSpPr>
        <p:spPr/>
        <p:txBody>
          <a:bodyPr/>
          <a:lstStyle/>
          <a:p>
            <a:fld id="{B56E1072-BEAA-412F-8EA7-C9DE1918248D}" type="slidenum">
              <a:rPr lang="en-US" smtClean="0"/>
              <a:t>11</a:t>
            </a:fld>
            <a:endParaRPr lang="en-US"/>
          </a:p>
        </p:txBody>
      </p:sp>
    </p:spTree>
    <p:extLst>
      <p:ext uri="{BB962C8B-B14F-4D97-AF65-F5344CB8AC3E}">
        <p14:creationId xmlns:p14="http://schemas.microsoft.com/office/powerpoint/2010/main" val="453094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dirty="0"/>
              <a:t>There is also an external pressure. Investors prefer to invest in sustainable companies, and customers are scrutinizing the way businesses are conducted. This implies that organizations are forced to change in order to be competitive.</a:t>
            </a:r>
          </a:p>
          <a:p>
            <a:endParaRPr lang="en-US" dirty="0"/>
          </a:p>
        </p:txBody>
      </p:sp>
      <p:sp>
        <p:nvSpPr>
          <p:cNvPr id="4" name="Slide Number Placeholder 3"/>
          <p:cNvSpPr>
            <a:spLocks noGrp="1"/>
          </p:cNvSpPr>
          <p:nvPr>
            <p:ph type="sldNum" sz="quarter" idx="5"/>
          </p:nvPr>
        </p:nvSpPr>
        <p:spPr/>
        <p:txBody>
          <a:bodyPr/>
          <a:lstStyle/>
          <a:p>
            <a:fld id="{B56E1072-BEAA-412F-8EA7-C9DE1918248D}" type="slidenum">
              <a:rPr lang="en-US" smtClean="0"/>
              <a:t>12</a:t>
            </a:fld>
            <a:endParaRPr lang="en-US"/>
          </a:p>
        </p:txBody>
      </p:sp>
    </p:spTree>
    <p:extLst>
      <p:ext uri="{BB962C8B-B14F-4D97-AF65-F5344CB8AC3E}">
        <p14:creationId xmlns:p14="http://schemas.microsoft.com/office/powerpoint/2010/main" val="1776416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dirty="0"/>
              <a:t>EMS promotes sustainability because it involves daily operations. It presents transparent procedures and enables organizations to gauge their progress, which can easily be improved as time goes on.</a:t>
            </a:r>
          </a:p>
          <a:p>
            <a:endParaRPr lang="en-US" dirty="0"/>
          </a:p>
        </p:txBody>
      </p:sp>
      <p:sp>
        <p:nvSpPr>
          <p:cNvPr id="4" name="Slide Number Placeholder 3"/>
          <p:cNvSpPr>
            <a:spLocks noGrp="1"/>
          </p:cNvSpPr>
          <p:nvPr>
            <p:ph type="sldNum" sz="quarter" idx="5"/>
          </p:nvPr>
        </p:nvSpPr>
        <p:spPr/>
        <p:txBody>
          <a:bodyPr/>
          <a:lstStyle/>
          <a:p>
            <a:fld id="{B56E1072-BEAA-412F-8EA7-C9DE1918248D}" type="slidenum">
              <a:rPr lang="en-US" smtClean="0"/>
              <a:t>13</a:t>
            </a:fld>
            <a:endParaRPr lang="en-US"/>
          </a:p>
        </p:txBody>
      </p:sp>
    </p:spTree>
    <p:extLst>
      <p:ext uri="{BB962C8B-B14F-4D97-AF65-F5344CB8AC3E}">
        <p14:creationId xmlns:p14="http://schemas.microsoft.com/office/powerpoint/2010/main" val="803832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dirty="0"/>
              <a:t>Continuous improvement is one of the most significant qualities of an EMS. Organizations are also supposed to continue to audit their performance and make changes to enhance efficiency and minimize environmental impact.</a:t>
            </a:r>
          </a:p>
          <a:p>
            <a:endParaRPr lang="en-US" dirty="0"/>
          </a:p>
        </p:txBody>
      </p:sp>
      <p:sp>
        <p:nvSpPr>
          <p:cNvPr id="4" name="Slide Number Placeholder 3"/>
          <p:cNvSpPr>
            <a:spLocks noGrp="1"/>
          </p:cNvSpPr>
          <p:nvPr>
            <p:ph type="sldNum" sz="quarter" idx="5"/>
          </p:nvPr>
        </p:nvSpPr>
        <p:spPr/>
        <p:txBody>
          <a:bodyPr/>
          <a:lstStyle/>
          <a:p>
            <a:fld id="{B56E1072-BEAA-412F-8EA7-C9DE1918248D}" type="slidenum">
              <a:rPr lang="en-US" smtClean="0"/>
              <a:t>14</a:t>
            </a:fld>
            <a:endParaRPr lang="en-US"/>
          </a:p>
        </p:txBody>
      </p:sp>
    </p:spTree>
    <p:extLst>
      <p:ext uri="{BB962C8B-B14F-4D97-AF65-F5344CB8AC3E}">
        <p14:creationId xmlns:p14="http://schemas.microsoft.com/office/powerpoint/2010/main" val="1340578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dirty="0"/>
              <a:t>EMS may bring about actual operational advantage. The organizations can reduce costs by enhancing efficiency and minimizing waste. It is also useful in minimizing chances of environmental accidents and penalties.</a:t>
            </a:r>
          </a:p>
          <a:p>
            <a:endParaRPr lang="en-US" dirty="0"/>
          </a:p>
        </p:txBody>
      </p:sp>
      <p:sp>
        <p:nvSpPr>
          <p:cNvPr id="4" name="Slide Number Placeholder 3"/>
          <p:cNvSpPr>
            <a:spLocks noGrp="1"/>
          </p:cNvSpPr>
          <p:nvPr>
            <p:ph type="sldNum" sz="quarter" idx="5"/>
          </p:nvPr>
        </p:nvSpPr>
        <p:spPr/>
        <p:txBody>
          <a:bodyPr/>
          <a:lstStyle/>
          <a:p>
            <a:fld id="{B56E1072-BEAA-412F-8EA7-C9DE1918248D}" type="slidenum">
              <a:rPr lang="en-US" smtClean="0"/>
              <a:t>15</a:t>
            </a:fld>
            <a:endParaRPr lang="en-US"/>
          </a:p>
        </p:txBody>
      </p:sp>
    </p:spTree>
    <p:extLst>
      <p:ext uri="{BB962C8B-B14F-4D97-AF65-F5344CB8AC3E}">
        <p14:creationId xmlns:p14="http://schemas.microsoft.com/office/powerpoint/2010/main" val="1524509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dirty="0"/>
              <a:t>Other than business, EMS creates strategic advantages. It enhances the reputation of the organization, develops trust, and at times even develops new business opportunities as a result of innovation.</a:t>
            </a:r>
          </a:p>
          <a:p>
            <a:endParaRPr lang="en-US" dirty="0"/>
          </a:p>
        </p:txBody>
      </p:sp>
      <p:sp>
        <p:nvSpPr>
          <p:cNvPr id="4" name="Slide Number Placeholder 3"/>
          <p:cNvSpPr>
            <a:spLocks noGrp="1"/>
          </p:cNvSpPr>
          <p:nvPr>
            <p:ph type="sldNum" sz="quarter" idx="5"/>
          </p:nvPr>
        </p:nvSpPr>
        <p:spPr/>
        <p:txBody>
          <a:bodyPr/>
          <a:lstStyle/>
          <a:p>
            <a:fld id="{B56E1072-BEAA-412F-8EA7-C9DE1918248D}" type="slidenum">
              <a:rPr lang="en-US" smtClean="0"/>
              <a:t>16</a:t>
            </a:fld>
            <a:endParaRPr lang="en-US"/>
          </a:p>
        </p:txBody>
      </p:sp>
    </p:spTree>
    <p:extLst>
      <p:ext uri="{BB962C8B-B14F-4D97-AF65-F5344CB8AC3E}">
        <p14:creationId xmlns:p14="http://schemas.microsoft.com/office/powerpoint/2010/main" val="8507194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dirty="0"/>
              <a:t>In conclusion, sustainability is no longer something organizations need not think about. The EMS offers an objective and practical means of handling the environmental obligations. Those organizations that act now will be better placed in the future.</a:t>
            </a:r>
          </a:p>
          <a:p>
            <a:endParaRPr lang="en-US" dirty="0"/>
          </a:p>
        </p:txBody>
      </p:sp>
      <p:sp>
        <p:nvSpPr>
          <p:cNvPr id="4" name="Slide Number Placeholder 3"/>
          <p:cNvSpPr>
            <a:spLocks noGrp="1"/>
          </p:cNvSpPr>
          <p:nvPr>
            <p:ph type="sldNum" sz="quarter" idx="5"/>
          </p:nvPr>
        </p:nvSpPr>
        <p:spPr/>
        <p:txBody>
          <a:bodyPr/>
          <a:lstStyle/>
          <a:p>
            <a:fld id="{B56E1072-BEAA-412F-8EA7-C9DE1918248D}" type="slidenum">
              <a:rPr lang="en-US" smtClean="0"/>
              <a:t>17</a:t>
            </a:fld>
            <a:endParaRPr lang="en-US"/>
          </a:p>
        </p:txBody>
      </p:sp>
    </p:spTree>
    <p:extLst>
      <p:ext uri="{BB962C8B-B14F-4D97-AF65-F5344CB8AC3E}">
        <p14:creationId xmlns:p14="http://schemas.microsoft.com/office/powerpoint/2010/main" val="935754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56E1072-BEAA-412F-8EA7-C9DE1918248D}" type="slidenum">
              <a:rPr lang="en-US" smtClean="0"/>
              <a:t>18</a:t>
            </a:fld>
            <a:endParaRPr lang="en-US"/>
          </a:p>
        </p:txBody>
      </p:sp>
    </p:spTree>
    <p:extLst>
      <p:ext uri="{BB962C8B-B14F-4D97-AF65-F5344CB8AC3E}">
        <p14:creationId xmlns:p14="http://schemas.microsoft.com/office/powerpoint/2010/main" val="792341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F8977-955B-DC3B-C0E5-A01C270166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4FC1C59-DCD6-50C1-313B-1AF3A1A420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FD08FD-125A-0E70-BEAC-74D33301C602}"/>
              </a:ext>
            </a:extLst>
          </p:cNvPr>
          <p:cNvSpPr>
            <a:spLocks noGrp="1"/>
          </p:cNvSpPr>
          <p:nvPr>
            <p:ph type="dt" sz="half" idx="10"/>
          </p:nvPr>
        </p:nvSpPr>
        <p:spPr/>
        <p:txBody>
          <a:bodyPr/>
          <a:lstStyle/>
          <a:p>
            <a:fld id="{BCB94EC6-C3EF-451A-98D2-D7F0E79D2778}" type="datetimeFigureOut">
              <a:rPr lang="en-US" smtClean="0"/>
              <a:t>3/20/2026</a:t>
            </a:fld>
            <a:endParaRPr lang="en-US"/>
          </a:p>
        </p:txBody>
      </p:sp>
      <p:sp>
        <p:nvSpPr>
          <p:cNvPr id="5" name="Footer Placeholder 4">
            <a:extLst>
              <a:ext uri="{FF2B5EF4-FFF2-40B4-BE49-F238E27FC236}">
                <a16:creationId xmlns:a16="http://schemas.microsoft.com/office/drawing/2014/main" id="{8B68F442-5013-789B-CA7B-AA4B5A7DBF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E892B5-6C43-7D74-79F0-42D79BD556AD}"/>
              </a:ext>
            </a:extLst>
          </p:cNvPr>
          <p:cNvSpPr>
            <a:spLocks noGrp="1"/>
          </p:cNvSpPr>
          <p:nvPr>
            <p:ph type="sldNum" sz="quarter" idx="12"/>
          </p:nvPr>
        </p:nvSpPr>
        <p:spPr/>
        <p:txBody>
          <a:bodyPr/>
          <a:lstStyle/>
          <a:p>
            <a:fld id="{DBD432F8-AC46-4E79-B6D5-EA969CC5E191}" type="slidenum">
              <a:rPr lang="en-US" smtClean="0"/>
              <a:t>‹#›</a:t>
            </a:fld>
            <a:endParaRPr lang="en-US"/>
          </a:p>
        </p:txBody>
      </p:sp>
    </p:spTree>
    <p:extLst>
      <p:ext uri="{BB962C8B-B14F-4D97-AF65-F5344CB8AC3E}">
        <p14:creationId xmlns:p14="http://schemas.microsoft.com/office/powerpoint/2010/main" val="31518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67EB6-7BE1-4AD3-0C4F-387E9E29DC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1F263F-C0C7-053F-C7B4-89D1D03757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C00B55-63F7-51DF-24FB-DEC01ADBC2B3}"/>
              </a:ext>
            </a:extLst>
          </p:cNvPr>
          <p:cNvSpPr>
            <a:spLocks noGrp="1"/>
          </p:cNvSpPr>
          <p:nvPr>
            <p:ph type="dt" sz="half" idx="10"/>
          </p:nvPr>
        </p:nvSpPr>
        <p:spPr/>
        <p:txBody>
          <a:bodyPr/>
          <a:lstStyle/>
          <a:p>
            <a:fld id="{BCB94EC6-C3EF-451A-98D2-D7F0E79D2778}" type="datetimeFigureOut">
              <a:rPr lang="en-US" smtClean="0"/>
              <a:t>3/20/2026</a:t>
            </a:fld>
            <a:endParaRPr lang="en-US"/>
          </a:p>
        </p:txBody>
      </p:sp>
      <p:sp>
        <p:nvSpPr>
          <p:cNvPr id="5" name="Footer Placeholder 4">
            <a:extLst>
              <a:ext uri="{FF2B5EF4-FFF2-40B4-BE49-F238E27FC236}">
                <a16:creationId xmlns:a16="http://schemas.microsoft.com/office/drawing/2014/main" id="{FC5A5787-DF40-ABF1-FC54-EFEA07ABF5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62BC4A-0EC6-2831-64F6-04C98A425563}"/>
              </a:ext>
            </a:extLst>
          </p:cNvPr>
          <p:cNvSpPr>
            <a:spLocks noGrp="1"/>
          </p:cNvSpPr>
          <p:nvPr>
            <p:ph type="sldNum" sz="quarter" idx="12"/>
          </p:nvPr>
        </p:nvSpPr>
        <p:spPr/>
        <p:txBody>
          <a:bodyPr/>
          <a:lstStyle/>
          <a:p>
            <a:fld id="{DBD432F8-AC46-4E79-B6D5-EA969CC5E191}" type="slidenum">
              <a:rPr lang="en-US" smtClean="0"/>
              <a:t>‹#›</a:t>
            </a:fld>
            <a:endParaRPr lang="en-US"/>
          </a:p>
        </p:txBody>
      </p:sp>
    </p:spTree>
    <p:extLst>
      <p:ext uri="{BB962C8B-B14F-4D97-AF65-F5344CB8AC3E}">
        <p14:creationId xmlns:p14="http://schemas.microsoft.com/office/powerpoint/2010/main" val="2514401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FEB49-11A0-A7AB-21B2-EFA38F2D0E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8D243A-5EA1-3D5D-9CCF-3C28C5EA9F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B72CDC-943E-F3D3-26F3-66D6900425D9}"/>
              </a:ext>
            </a:extLst>
          </p:cNvPr>
          <p:cNvSpPr>
            <a:spLocks noGrp="1"/>
          </p:cNvSpPr>
          <p:nvPr>
            <p:ph type="dt" sz="half" idx="10"/>
          </p:nvPr>
        </p:nvSpPr>
        <p:spPr/>
        <p:txBody>
          <a:bodyPr/>
          <a:lstStyle/>
          <a:p>
            <a:fld id="{BCB94EC6-C3EF-451A-98D2-D7F0E79D2778}" type="datetimeFigureOut">
              <a:rPr lang="en-US" smtClean="0"/>
              <a:t>3/20/2026</a:t>
            </a:fld>
            <a:endParaRPr lang="en-US"/>
          </a:p>
        </p:txBody>
      </p:sp>
      <p:sp>
        <p:nvSpPr>
          <p:cNvPr id="5" name="Footer Placeholder 4">
            <a:extLst>
              <a:ext uri="{FF2B5EF4-FFF2-40B4-BE49-F238E27FC236}">
                <a16:creationId xmlns:a16="http://schemas.microsoft.com/office/drawing/2014/main" id="{28988AC1-B122-190E-DB72-2F75528028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16D518-6B77-2B2C-3EB8-6225D80CC4AB}"/>
              </a:ext>
            </a:extLst>
          </p:cNvPr>
          <p:cNvSpPr>
            <a:spLocks noGrp="1"/>
          </p:cNvSpPr>
          <p:nvPr>
            <p:ph type="sldNum" sz="quarter" idx="12"/>
          </p:nvPr>
        </p:nvSpPr>
        <p:spPr/>
        <p:txBody>
          <a:bodyPr/>
          <a:lstStyle/>
          <a:p>
            <a:fld id="{DBD432F8-AC46-4E79-B6D5-EA969CC5E191}" type="slidenum">
              <a:rPr lang="en-US" smtClean="0"/>
              <a:t>‹#›</a:t>
            </a:fld>
            <a:endParaRPr lang="en-US"/>
          </a:p>
        </p:txBody>
      </p:sp>
    </p:spTree>
    <p:extLst>
      <p:ext uri="{BB962C8B-B14F-4D97-AF65-F5344CB8AC3E}">
        <p14:creationId xmlns:p14="http://schemas.microsoft.com/office/powerpoint/2010/main" val="1397883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DC9E4-B346-3698-63ED-4CAB30866A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EF5ED1-9E40-1269-735D-15961600BE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90B3AB-B6A5-9FFA-0CEA-7932185A62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8E2C97-1157-D99F-1CC2-8F6C44F39654}"/>
              </a:ext>
            </a:extLst>
          </p:cNvPr>
          <p:cNvSpPr>
            <a:spLocks noGrp="1"/>
          </p:cNvSpPr>
          <p:nvPr>
            <p:ph type="dt" sz="half" idx="10"/>
          </p:nvPr>
        </p:nvSpPr>
        <p:spPr/>
        <p:txBody>
          <a:bodyPr/>
          <a:lstStyle/>
          <a:p>
            <a:fld id="{BCB94EC6-C3EF-451A-98D2-D7F0E79D2778}" type="datetimeFigureOut">
              <a:rPr lang="en-US" smtClean="0"/>
              <a:t>3/20/2026</a:t>
            </a:fld>
            <a:endParaRPr lang="en-US"/>
          </a:p>
        </p:txBody>
      </p:sp>
      <p:sp>
        <p:nvSpPr>
          <p:cNvPr id="6" name="Footer Placeholder 5">
            <a:extLst>
              <a:ext uri="{FF2B5EF4-FFF2-40B4-BE49-F238E27FC236}">
                <a16:creationId xmlns:a16="http://schemas.microsoft.com/office/drawing/2014/main" id="{8D96A585-8880-F956-405F-1ADD00B29E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299C66-67AE-F2FD-3A57-1BC6F9FA06C1}"/>
              </a:ext>
            </a:extLst>
          </p:cNvPr>
          <p:cNvSpPr>
            <a:spLocks noGrp="1"/>
          </p:cNvSpPr>
          <p:nvPr>
            <p:ph type="sldNum" sz="quarter" idx="12"/>
          </p:nvPr>
        </p:nvSpPr>
        <p:spPr/>
        <p:txBody>
          <a:bodyPr/>
          <a:lstStyle/>
          <a:p>
            <a:fld id="{DBD432F8-AC46-4E79-B6D5-EA969CC5E191}" type="slidenum">
              <a:rPr lang="en-US" smtClean="0"/>
              <a:t>‹#›</a:t>
            </a:fld>
            <a:endParaRPr lang="en-US"/>
          </a:p>
        </p:txBody>
      </p:sp>
    </p:spTree>
    <p:extLst>
      <p:ext uri="{BB962C8B-B14F-4D97-AF65-F5344CB8AC3E}">
        <p14:creationId xmlns:p14="http://schemas.microsoft.com/office/powerpoint/2010/main" val="2559370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499CD-4AC3-2C61-5E5C-D6EE79077E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9B6A3-F1EF-3FEF-BD02-714C93B6AE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F337B2-B8AB-FFF7-E4CA-5C2CD1C3CA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D64923-D7E1-2463-D82E-DD18EAB2E1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81C7F5-9DCF-CEA0-3615-B4B2D6EFC6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95C34A9-5538-2FFB-2157-4BEEF0A437DE}"/>
              </a:ext>
            </a:extLst>
          </p:cNvPr>
          <p:cNvSpPr>
            <a:spLocks noGrp="1"/>
          </p:cNvSpPr>
          <p:nvPr>
            <p:ph type="dt" sz="half" idx="10"/>
          </p:nvPr>
        </p:nvSpPr>
        <p:spPr/>
        <p:txBody>
          <a:bodyPr/>
          <a:lstStyle/>
          <a:p>
            <a:fld id="{BCB94EC6-C3EF-451A-98D2-D7F0E79D2778}" type="datetimeFigureOut">
              <a:rPr lang="en-US" smtClean="0"/>
              <a:t>3/20/2026</a:t>
            </a:fld>
            <a:endParaRPr lang="en-US"/>
          </a:p>
        </p:txBody>
      </p:sp>
      <p:sp>
        <p:nvSpPr>
          <p:cNvPr id="8" name="Footer Placeholder 7">
            <a:extLst>
              <a:ext uri="{FF2B5EF4-FFF2-40B4-BE49-F238E27FC236}">
                <a16:creationId xmlns:a16="http://schemas.microsoft.com/office/drawing/2014/main" id="{5E521272-0D9D-47AE-469F-9357FF8C31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448227-19D8-C81A-3F6A-ECE671493DA7}"/>
              </a:ext>
            </a:extLst>
          </p:cNvPr>
          <p:cNvSpPr>
            <a:spLocks noGrp="1"/>
          </p:cNvSpPr>
          <p:nvPr>
            <p:ph type="sldNum" sz="quarter" idx="12"/>
          </p:nvPr>
        </p:nvSpPr>
        <p:spPr/>
        <p:txBody>
          <a:bodyPr/>
          <a:lstStyle/>
          <a:p>
            <a:fld id="{DBD432F8-AC46-4E79-B6D5-EA969CC5E191}" type="slidenum">
              <a:rPr lang="en-US" smtClean="0"/>
              <a:t>‹#›</a:t>
            </a:fld>
            <a:endParaRPr lang="en-US"/>
          </a:p>
        </p:txBody>
      </p:sp>
    </p:spTree>
    <p:extLst>
      <p:ext uri="{BB962C8B-B14F-4D97-AF65-F5344CB8AC3E}">
        <p14:creationId xmlns:p14="http://schemas.microsoft.com/office/powerpoint/2010/main" val="1864470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81AA9-CADB-BCD2-DFA8-B782ACA509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CC0EC7-9CDC-4096-B9D6-425DFE23DBF5}"/>
              </a:ext>
            </a:extLst>
          </p:cNvPr>
          <p:cNvSpPr>
            <a:spLocks noGrp="1"/>
          </p:cNvSpPr>
          <p:nvPr>
            <p:ph type="dt" sz="half" idx="10"/>
          </p:nvPr>
        </p:nvSpPr>
        <p:spPr/>
        <p:txBody>
          <a:bodyPr/>
          <a:lstStyle/>
          <a:p>
            <a:fld id="{BCB94EC6-C3EF-451A-98D2-D7F0E79D2778}" type="datetimeFigureOut">
              <a:rPr lang="en-US" smtClean="0"/>
              <a:t>3/20/2026</a:t>
            </a:fld>
            <a:endParaRPr lang="en-US"/>
          </a:p>
        </p:txBody>
      </p:sp>
      <p:sp>
        <p:nvSpPr>
          <p:cNvPr id="4" name="Footer Placeholder 3">
            <a:extLst>
              <a:ext uri="{FF2B5EF4-FFF2-40B4-BE49-F238E27FC236}">
                <a16:creationId xmlns:a16="http://schemas.microsoft.com/office/drawing/2014/main" id="{0ED486B8-C683-F658-83B0-66F0AA94AC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E93A4F-5144-4DCD-CE32-FD8B456B095B}"/>
              </a:ext>
            </a:extLst>
          </p:cNvPr>
          <p:cNvSpPr>
            <a:spLocks noGrp="1"/>
          </p:cNvSpPr>
          <p:nvPr>
            <p:ph type="sldNum" sz="quarter" idx="12"/>
          </p:nvPr>
        </p:nvSpPr>
        <p:spPr/>
        <p:txBody>
          <a:bodyPr/>
          <a:lstStyle/>
          <a:p>
            <a:fld id="{DBD432F8-AC46-4E79-B6D5-EA969CC5E191}" type="slidenum">
              <a:rPr lang="en-US" smtClean="0"/>
              <a:t>‹#›</a:t>
            </a:fld>
            <a:endParaRPr lang="en-US"/>
          </a:p>
        </p:txBody>
      </p:sp>
    </p:spTree>
    <p:extLst>
      <p:ext uri="{BB962C8B-B14F-4D97-AF65-F5344CB8AC3E}">
        <p14:creationId xmlns:p14="http://schemas.microsoft.com/office/powerpoint/2010/main" val="3130518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EBD597-1BC0-FDCF-E247-847A72AF5684}"/>
              </a:ext>
            </a:extLst>
          </p:cNvPr>
          <p:cNvSpPr>
            <a:spLocks noGrp="1"/>
          </p:cNvSpPr>
          <p:nvPr>
            <p:ph type="dt" sz="half" idx="10"/>
          </p:nvPr>
        </p:nvSpPr>
        <p:spPr/>
        <p:txBody>
          <a:bodyPr/>
          <a:lstStyle/>
          <a:p>
            <a:fld id="{BCB94EC6-C3EF-451A-98D2-D7F0E79D2778}" type="datetimeFigureOut">
              <a:rPr lang="en-US" smtClean="0"/>
              <a:t>3/20/2026</a:t>
            </a:fld>
            <a:endParaRPr lang="en-US"/>
          </a:p>
        </p:txBody>
      </p:sp>
      <p:sp>
        <p:nvSpPr>
          <p:cNvPr id="3" name="Footer Placeholder 2">
            <a:extLst>
              <a:ext uri="{FF2B5EF4-FFF2-40B4-BE49-F238E27FC236}">
                <a16:creationId xmlns:a16="http://schemas.microsoft.com/office/drawing/2014/main" id="{C6CADE6E-40A1-B51B-1F35-30158634F2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44642D-0250-2229-7747-53902C0A922B}"/>
              </a:ext>
            </a:extLst>
          </p:cNvPr>
          <p:cNvSpPr>
            <a:spLocks noGrp="1"/>
          </p:cNvSpPr>
          <p:nvPr>
            <p:ph type="sldNum" sz="quarter" idx="12"/>
          </p:nvPr>
        </p:nvSpPr>
        <p:spPr/>
        <p:txBody>
          <a:bodyPr/>
          <a:lstStyle/>
          <a:p>
            <a:fld id="{DBD432F8-AC46-4E79-B6D5-EA969CC5E191}" type="slidenum">
              <a:rPr lang="en-US" smtClean="0"/>
              <a:t>‹#›</a:t>
            </a:fld>
            <a:endParaRPr lang="en-US"/>
          </a:p>
        </p:txBody>
      </p:sp>
    </p:spTree>
    <p:extLst>
      <p:ext uri="{BB962C8B-B14F-4D97-AF65-F5344CB8AC3E}">
        <p14:creationId xmlns:p14="http://schemas.microsoft.com/office/powerpoint/2010/main" val="1985316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45D06-3578-61CA-54DB-0E2D23B93B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12FE7C-DF2E-9CFF-C6C1-49343A190F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85CC97-0488-D007-72E6-38A3072B8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5A4392-7164-DC53-2110-E26538C8B10F}"/>
              </a:ext>
            </a:extLst>
          </p:cNvPr>
          <p:cNvSpPr>
            <a:spLocks noGrp="1"/>
          </p:cNvSpPr>
          <p:nvPr>
            <p:ph type="dt" sz="half" idx="10"/>
          </p:nvPr>
        </p:nvSpPr>
        <p:spPr/>
        <p:txBody>
          <a:bodyPr/>
          <a:lstStyle/>
          <a:p>
            <a:fld id="{BCB94EC6-C3EF-451A-98D2-D7F0E79D2778}" type="datetimeFigureOut">
              <a:rPr lang="en-US" smtClean="0"/>
              <a:t>3/20/2026</a:t>
            </a:fld>
            <a:endParaRPr lang="en-US"/>
          </a:p>
        </p:txBody>
      </p:sp>
      <p:sp>
        <p:nvSpPr>
          <p:cNvPr id="6" name="Footer Placeholder 5">
            <a:extLst>
              <a:ext uri="{FF2B5EF4-FFF2-40B4-BE49-F238E27FC236}">
                <a16:creationId xmlns:a16="http://schemas.microsoft.com/office/drawing/2014/main" id="{215D1203-2D5A-4719-B332-06CCAE936D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9464F6-8426-93E3-484F-39ABBAE8421D}"/>
              </a:ext>
            </a:extLst>
          </p:cNvPr>
          <p:cNvSpPr>
            <a:spLocks noGrp="1"/>
          </p:cNvSpPr>
          <p:nvPr>
            <p:ph type="sldNum" sz="quarter" idx="12"/>
          </p:nvPr>
        </p:nvSpPr>
        <p:spPr/>
        <p:txBody>
          <a:bodyPr/>
          <a:lstStyle/>
          <a:p>
            <a:fld id="{DBD432F8-AC46-4E79-B6D5-EA969CC5E191}" type="slidenum">
              <a:rPr lang="en-US" smtClean="0"/>
              <a:t>‹#›</a:t>
            </a:fld>
            <a:endParaRPr lang="en-US"/>
          </a:p>
        </p:txBody>
      </p:sp>
    </p:spTree>
    <p:extLst>
      <p:ext uri="{BB962C8B-B14F-4D97-AF65-F5344CB8AC3E}">
        <p14:creationId xmlns:p14="http://schemas.microsoft.com/office/powerpoint/2010/main" val="515524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B52FD-0434-4C59-DA47-BC263B21E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77D3AE-3532-AA13-C2FC-0521D9C4BA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F45BAD-A158-F623-5855-8EC6073DB7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01C887-6562-C54D-CBBB-AF6F3003AAEC}"/>
              </a:ext>
            </a:extLst>
          </p:cNvPr>
          <p:cNvSpPr>
            <a:spLocks noGrp="1"/>
          </p:cNvSpPr>
          <p:nvPr>
            <p:ph type="dt" sz="half" idx="10"/>
          </p:nvPr>
        </p:nvSpPr>
        <p:spPr/>
        <p:txBody>
          <a:bodyPr/>
          <a:lstStyle/>
          <a:p>
            <a:fld id="{BCB94EC6-C3EF-451A-98D2-D7F0E79D2778}" type="datetimeFigureOut">
              <a:rPr lang="en-US" smtClean="0"/>
              <a:t>3/20/2026</a:t>
            </a:fld>
            <a:endParaRPr lang="en-US"/>
          </a:p>
        </p:txBody>
      </p:sp>
      <p:sp>
        <p:nvSpPr>
          <p:cNvPr id="6" name="Footer Placeholder 5">
            <a:extLst>
              <a:ext uri="{FF2B5EF4-FFF2-40B4-BE49-F238E27FC236}">
                <a16:creationId xmlns:a16="http://schemas.microsoft.com/office/drawing/2014/main" id="{0E6988CF-C566-DFFE-E453-8B0E562E4C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E232B8-203D-ED26-BA74-DA81CD159102}"/>
              </a:ext>
            </a:extLst>
          </p:cNvPr>
          <p:cNvSpPr>
            <a:spLocks noGrp="1"/>
          </p:cNvSpPr>
          <p:nvPr>
            <p:ph type="sldNum" sz="quarter" idx="12"/>
          </p:nvPr>
        </p:nvSpPr>
        <p:spPr/>
        <p:txBody>
          <a:bodyPr/>
          <a:lstStyle/>
          <a:p>
            <a:fld id="{DBD432F8-AC46-4E79-B6D5-EA969CC5E191}" type="slidenum">
              <a:rPr lang="en-US" smtClean="0"/>
              <a:t>‹#›</a:t>
            </a:fld>
            <a:endParaRPr lang="en-US"/>
          </a:p>
        </p:txBody>
      </p:sp>
    </p:spTree>
    <p:extLst>
      <p:ext uri="{BB962C8B-B14F-4D97-AF65-F5344CB8AC3E}">
        <p14:creationId xmlns:p14="http://schemas.microsoft.com/office/powerpoint/2010/main" val="3093074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C1902-2533-4E30-6557-DC2568CEB1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0C50D5-566E-A848-1110-4AC6CCCE44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603C59-8D60-4EAA-D193-2F50C2E2A7FB}"/>
              </a:ext>
            </a:extLst>
          </p:cNvPr>
          <p:cNvSpPr>
            <a:spLocks noGrp="1"/>
          </p:cNvSpPr>
          <p:nvPr>
            <p:ph type="dt" sz="half" idx="10"/>
          </p:nvPr>
        </p:nvSpPr>
        <p:spPr/>
        <p:txBody>
          <a:bodyPr/>
          <a:lstStyle/>
          <a:p>
            <a:fld id="{BCB94EC6-C3EF-451A-98D2-D7F0E79D2778}" type="datetimeFigureOut">
              <a:rPr lang="en-US" smtClean="0"/>
              <a:t>3/20/2026</a:t>
            </a:fld>
            <a:endParaRPr lang="en-US"/>
          </a:p>
        </p:txBody>
      </p:sp>
      <p:sp>
        <p:nvSpPr>
          <p:cNvPr id="5" name="Footer Placeholder 4">
            <a:extLst>
              <a:ext uri="{FF2B5EF4-FFF2-40B4-BE49-F238E27FC236}">
                <a16:creationId xmlns:a16="http://schemas.microsoft.com/office/drawing/2014/main" id="{879ED9F0-A40E-4DE1-F9DD-B928C43A7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900FDD-140C-C19B-0830-2AD536D4AA6D}"/>
              </a:ext>
            </a:extLst>
          </p:cNvPr>
          <p:cNvSpPr>
            <a:spLocks noGrp="1"/>
          </p:cNvSpPr>
          <p:nvPr>
            <p:ph type="sldNum" sz="quarter" idx="12"/>
          </p:nvPr>
        </p:nvSpPr>
        <p:spPr/>
        <p:txBody>
          <a:bodyPr/>
          <a:lstStyle/>
          <a:p>
            <a:fld id="{DBD432F8-AC46-4E79-B6D5-EA969CC5E191}" type="slidenum">
              <a:rPr lang="en-US" smtClean="0"/>
              <a:t>‹#›</a:t>
            </a:fld>
            <a:endParaRPr lang="en-US"/>
          </a:p>
        </p:txBody>
      </p:sp>
    </p:spTree>
    <p:extLst>
      <p:ext uri="{BB962C8B-B14F-4D97-AF65-F5344CB8AC3E}">
        <p14:creationId xmlns:p14="http://schemas.microsoft.com/office/powerpoint/2010/main" val="265487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5D236-DD4D-8D52-8CEB-738F8F86E3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CA1A9C-8387-EDB2-6417-CA9EFFC0C2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B9EF14-DC7E-ECA5-EF74-761011BB8B13}"/>
              </a:ext>
            </a:extLst>
          </p:cNvPr>
          <p:cNvSpPr>
            <a:spLocks noGrp="1"/>
          </p:cNvSpPr>
          <p:nvPr>
            <p:ph type="dt" sz="half" idx="10"/>
          </p:nvPr>
        </p:nvSpPr>
        <p:spPr/>
        <p:txBody>
          <a:bodyPr/>
          <a:lstStyle/>
          <a:p>
            <a:fld id="{BCB94EC6-C3EF-451A-98D2-D7F0E79D2778}" type="datetimeFigureOut">
              <a:rPr lang="en-US" smtClean="0"/>
              <a:t>3/20/2026</a:t>
            </a:fld>
            <a:endParaRPr lang="en-US"/>
          </a:p>
        </p:txBody>
      </p:sp>
      <p:sp>
        <p:nvSpPr>
          <p:cNvPr id="5" name="Footer Placeholder 4">
            <a:extLst>
              <a:ext uri="{FF2B5EF4-FFF2-40B4-BE49-F238E27FC236}">
                <a16:creationId xmlns:a16="http://schemas.microsoft.com/office/drawing/2014/main" id="{FCE8B2E5-36FF-9A50-91B1-EB7D5FDA3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8B8039-C283-3359-50C5-942D7C3B55F1}"/>
              </a:ext>
            </a:extLst>
          </p:cNvPr>
          <p:cNvSpPr>
            <a:spLocks noGrp="1"/>
          </p:cNvSpPr>
          <p:nvPr>
            <p:ph type="sldNum" sz="quarter" idx="12"/>
          </p:nvPr>
        </p:nvSpPr>
        <p:spPr/>
        <p:txBody>
          <a:bodyPr/>
          <a:lstStyle/>
          <a:p>
            <a:fld id="{DBD432F8-AC46-4E79-B6D5-EA969CC5E191}" type="slidenum">
              <a:rPr lang="en-US" smtClean="0"/>
              <a:t>‹#›</a:t>
            </a:fld>
            <a:endParaRPr lang="en-US"/>
          </a:p>
        </p:txBody>
      </p:sp>
    </p:spTree>
    <p:extLst>
      <p:ext uri="{BB962C8B-B14F-4D97-AF65-F5344CB8AC3E}">
        <p14:creationId xmlns:p14="http://schemas.microsoft.com/office/powerpoint/2010/main" val="879461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A7A408-166A-23FD-96A3-F22998895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36FE20-3583-1F79-FB25-6AA8F6D36E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2D4D05-6904-46FB-C59E-C7DF71DB82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B94EC6-C3EF-451A-98D2-D7F0E79D2778}" type="datetimeFigureOut">
              <a:rPr lang="en-US" smtClean="0"/>
              <a:t>3/20/2026</a:t>
            </a:fld>
            <a:endParaRPr lang="en-US"/>
          </a:p>
        </p:txBody>
      </p:sp>
      <p:sp>
        <p:nvSpPr>
          <p:cNvPr id="5" name="Footer Placeholder 4">
            <a:extLst>
              <a:ext uri="{FF2B5EF4-FFF2-40B4-BE49-F238E27FC236}">
                <a16:creationId xmlns:a16="http://schemas.microsoft.com/office/drawing/2014/main" id="{78E68218-484B-E9E4-855A-90B3B274CB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C9CDAD-E943-7CAD-EF04-F15345A5CA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D432F8-AC46-4E79-B6D5-EA969CC5E191}" type="slidenum">
              <a:rPr lang="en-US" smtClean="0"/>
              <a:t>‹#›</a:t>
            </a:fld>
            <a:endParaRPr lang="en-US"/>
          </a:p>
        </p:txBody>
      </p:sp>
    </p:spTree>
    <p:extLst>
      <p:ext uri="{BB962C8B-B14F-4D97-AF65-F5344CB8AC3E}">
        <p14:creationId xmlns:p14="http://schemas.microsoft.com/office/powerpoint/2010/main" val="739338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A8ABF-BB59-5517-8A6D-59E3FDC831A1}"/>
              </a:ext>
            </a:extLst>
          </p:cNvPr>
          <p:cNvSpPr>
            <a:spLocks noGrp="1"/>
          </p:cNvSpPr>
          <p:nvPr>
            <p:ph type="ctrTitle"/>
          </p:nvPr>
        </p:nvSpPr>
        <p:spPr/>
        <p:txBody>
          <a:bodyPr>
            <a:normAutofit fontScale="90000"/>
          </a:bodyPr>
          <a:lstStyle/>
          <a:p>
            <a:r>
              <a:rPr lang="en-US" dirty="0"/>
              <a:t>Sustainability and Environmental Management Systems</a:t>
            </a:r>
          </a:p>
        </p:txBody>
      </p:sp>
      <p:sp>
        <p:nvSpPr>
          <p:cNvPr id="3" name="Subtitle 2">
            <a:extLst>
              <a:ext uri="{FF2B5EF4-FFF2-40B4-BE49-F238E27FC236}">
                <a16:creationId xmlns:a16="http://schemas.microsoft.com/office/drawing/2014/main" id="{22D825D1-B594-D2B9-AD0C-04F6227BD2F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366346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F043D-2F41-0673-B781-995B2B3425EF}"/>
              </a:ext>
            </a:extLst>
          </p:cNvPr>
          <p:cNvSpPr>
            <a:spLocks noGrp="1"/>
          </p:cNvSpPr>
          <p:nvPr>
            <p:ph type="title"/>
          </p:nvPr>
        </p:nvSpPr>
        <p:spPr/>
        <p:txBody>
          <a:bodyPr/>
          <a:lstStyle/>
          <a:p>
            <a:r>
              <a:rPr lang="en-US" dirty="0"/>
              <a:t>What is Sustainability?</a:t>
            </a:r>
          </a:p>
        </p:txBody>
      </p:sp>
      <p:sp>
        <p:nvSpPr>
          <p:cNvPr id="3" name="Content Placeholder 2">
            <a:extLst>
              <a:ext uri="{FF2B5EF4-FFF2-40B4-BE49-F238E27FC236}">
                <a16:creationId xmlns:a16="http://schemas.microsoft.com/office/drawing/2014/main" id="{05A024FD-D5A8-9139-29EF-4BC174AD0949}"/>
              </a:ext>
            </a:extLst>
          </p:cNvPr>
          <p:cNvSpPr>
            <a:spLocks noGrp="1"/>
          </p:cNvSpPr>
          <p:nvPr>
            <p:ph idx="1"/>
          </p:nvPr>
        </p:nvSpPr>
        <p:spPr>
          <a:xfrm>
            <a:off x="720969" y="1473932"/>
            <a:ext cx="3909646" cy="4351338"/>
          </a:xfrm>
        </p:spPr>
        <p:txBody>
          <a:bodyPr>
            <a:noAutofit/>
          </a:bodyPr>
          <a:lstStyle/>
          <a:p>
            <a:r>
              <a:rPr lang="en-US" sz="2000" dirty="0"/>
              <a:t>Considerable and intense utilization of natural resources and organizational resources in a judicious and responsible manner.</a:t>
            </a:r>
          </a:p>
          <a:p>
            <a:r>
              <a:rPr lang="en-US" sz="2000" dirty="0"/>
              <a:t>Developing choices that reflect on the long-term effectiveness and not on short-term outcomes.</a:t>
            </a:r>
          </a:p>
          <a:p>
            <a:r>
              <a:rPr lang="en-US" sz="2000" dirty="0"/>
              <a:t>Allowing the future generation to benefit positively when the action of the present generation is in question.</a:t>
            </a:r>
          </a:p>
          <a:p>
            <a:endParaRPr lang="en-US" sz="2000" dirty="0"/>
          </a:p>
        </p:txBody>
      </p:sp>
      <p:pic>
        <p:nvPicPr>
          <p:cNvPr id="5" name="Picture 4">
            <a:extLst>
              <a:ext uri="{FF2B5EF4-FFF2-40B4-BE49-F238E27FC236}">
                <a16:creationId xmlns:a16="http://schemas.microsoft.com/office/drawing/2014/main" id="{D3A6EA93-18DA-A2D5-AE9E-175C0C02F1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0616" y="1598734"/>
            <a:ext cx="7151078" cy="3442189"/>
          </a:xfrm>
          <a:prstGeom prst="rect">
            <a:avLst/>
          </a:prstGeom>
        </p:spPr>
      </p:pic>
      <p:sp>
        <p:nvSpPr>
          <p:cNvPr id="6" name="TextBox 5">
            <a:extLst>
              <a:ext uri="{FF2B5EF4-FFF2-40B4-BE49-F238E27FC236}">
                <a16:creationId xmlns:a16="http://schemas.microsoft.com/office/drawing/2014/main" id="{1598081D-79C0-4D8F-83F3-60E81FBAE3FB}"/>
              </a:ext>
            </a:extLst>
          </p:cNvPr>
          <p:cNvSpPr txBox="1"/>
          <p:nvPr/>
        </p:nvSpPr>
        <p:spPr>
          <a:xfrm>
            <a:off x="6848475" y="5040923"/>
            <a:ext cx="3752850" cy="646331"/>
          </a:xfrm>
          <a:prstGeom prst="rect">
            <a:avLst/>
          </a:prstGeom>
          <a:noFill/>
        </p:spPr>
        <p:txBody>
          <a:bodyPr wrap="square" rtlCol="0">
            <a:spAutoFit/>
          </a:bodyPr>
          <a:lstStyle/>
          <a:p>
            <a:r>
              <a:rPr lang="en-US" dirty="0"/>
              <a:t>Figure: Sustainability in business. </a:t>
            </a:r>
          </a:p>
          <a:p>
            <a:r>
              <a:rPr lang="en-US" dirty="0"/>
              <a:t>Source: United Nations</a:t>
            </a:r>
          </a:p>
        </p:txBody>
      </p:sp>
    </p:spTree>
    <p:extLst>
      <p:ext uri="{BB962C8B-B14F-4D97-AF65-F5344CB8AC3E}">
        <p14:creationId xmlns:p14="http://schemas.microsoft.com/office/powerpoint/2010/main" val="1109277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777E9-2730-CD34-8B16-4735472D5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B9B65-E51D-EA2A-6D1B-7DAC3EB83CCA}"/>
              </a:ext>
            </a:extLst>
          </p:cNvPr>
          <p:cNvSpPr>
            <a:spLocks noGrp="1"/>
          </p:cNvSpPr>
          <p:nvPr>
            <p:ph type="title"/>
          </p:nvPr>
        </p:nvSpPr>
        <p:spPr/>
        <p:txBody>
          <a:bodyPr/>
          <a:lstStyle/>
          <a:p>
            <a:r>
              <a:rPr lang="en-US"/>
              <a:t>Main Areas of Sustainability.</a:t>
            </a:r>
            <a:endParaRPr lang="en-US" dirty="0"/>
          </a:p>
        </p:txBody>
      </p:sp>
      <p:sp>
        <p:nvSpPr>
          <p:cNvPr id="3" name="Content Placeholder 2">
            <a:extLst>
              <a:ext uri="{FF2B5EF4-FFF2-40B4-BE49-F238E27FC236}">
                <a16:creationId xmlns:a16="http://schemas.microsoft.com/office/drawing/2014/main" id="{F640CD36-9543-F30A-4BB0-CEF547D18633}"/>
              </a:ext>
            </a:extLst>
          </p:cNvPr>
          <p:cNvSpPr>
            <a:spLocks noGrp="1"/>
          </p:cNvSpPr>
          <p:nvPr>
            <p:ph idx="1"/>
          </p:nvPr>
        </p:nvSpPr>
        <p:spPr>
          <a:xfrm>
            <a:off x="838200" y="1825625"/>
            <a:ext cx="3200400" cy="4351338"/>
          </a:xfrm>
        </p:spPr>
        <p:txBody>
          <a:bodyPr>
            <a:normAutofit/>
          </a:bodyPr>
          <a:lstStyle/>
          <a:p>
            <a:r>
              <a:rPr lang="en-US" sz="2000" dirty="0"/>
              <a:t>Environmental responsibility, such as safeguarding the natural resources and minimization of pollution.</a:t>
            </a:r>
          </a:p>
          <a:p>
            <a:r>
              <a:rPr lang="en-US" sz="2000" dirty="0"/>
              <a:t>Social responsibility including being fair to employees and giving back to communities.</a:t>
            </a:r>
          </a:p>
          <a:p>
            <a:r>
              <a:rPr lang="en-US" sz="2000" dirty="0"/>
              <a:t>Economic responsibility, which aims at maintaining profitability in the long run.</a:t>
            </a:r>
          </a:p>
        </p:txBody>
      </p:sp>
      <p:pic>
        <p:nvPicPr>
          <p:cNvPr id="5" name="Picture 4">
            <a:extLst>
              <a:ext uri="{FF2B5EF4-FFF2-40B4-BE49-F238E27FC236}">
                <a16:creationId xmlns:a16="http://schemas.microsoft.com/office/drawing/2014/main" id="{B2264B64-A5CF-5D2E-07F9-262D136191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2734" y="1539067"/>
            <a:ext cx="6230041" cy="4199287"/>
          </a:xfrm>
          <a:prstGeom prst="rect">
            <a:avLst/>
          </a:prstGeom>
        </p:spPr>
      </p:pic>
      <p:sp>
        <p:nvSpPr>
          <p:cNvPr id="6" name="TextBox 5">
            <a:extLst>
              <a:ext uri="{FF2B5EF4-FFF2-40B4-BE49-F238E27FC236}">
                <a16:creationId xmlns:a16="http://schemas.microsoft.com/office/drawing/2014/main" id="{746C889D-5653-2C6F-9FF6-0A8310B61766}"/>
              </a:ext>
            </a:extLst>
          </p:cNvPr>
          <p:cNvSpPr txBox="1"/>
          <p:nvPr/>
        </p:nvSpPr>
        <p:spPr>
          <a:xfrm>
            <a:off x="6429377" y="5853797"/>
            <a:ext cx="3448050" cy="646331"/>
          </a:xfrm>
          <a:prstGeom prst="rect">
            <a:avLst/>
          </a:prstGeom>
          <a:noFill/>
        </p:spPr>
        <p:txBody>
          <a:bodyPr wrap="square" rtlCol="0">
            <a:spAutoFit/>
          </a:bodyPr>
          <a:lstStyle/>
          <a:p>
            <a:r>
              <a:rPr lang="en-US" dirty="0"/>
              <a:t>Figure: Areas of Sustainability</a:t>
            </a:r>
          </a:p>
          <a:p>
            <a:r>
              <a:rPr lang="en-US" dirty="0"/>
              <a:t>Source: UN</a:t>
            </a:r>
          </a:p>
        </p:txBody>
      </p:sp>
    </p:spTree>
    <p:extLst>
      <p:ext uri="{BB962C8B-B14F-4D97-AF65-F5344CB8AC3E}">
        <p14:creationId xmlns:p14="http://schemas.microsoft.com/office/powerpoint/2010/main" val="957827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7B63A-D88A-ADD0-D679-D36A9AE66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B42C6B-C9F2-A4A3-C4B7-C30DD1B2EE83}"/>
              </a:ext>
            </a:extLst>
          </p:cNvPr>
          <p:cNvSpPr>
            <a:spLocks noGrp="1"/>
          </p:cNvSpPr>
          <p:nvPr>
            <p:ph type="title"/>
          </p:nvPr>
        </p:nvSpPr>
        <p:spPr/>
        <p:txBody>
          <a:bodyPr/>
          <a:lstStyle/>
          <a:p>
            <a:r>
              <a:rPr lang="en-US" dirty="0"/>
              <a:t>Sustainability in Business Setup.</a:t>
            </a:r>
          </a:p>
        </p:txBody>
      </p:sp>
      <p:sp>
        <p:nvSpPr>
          <p:cNvPr id="3" name="Content Placeholder 2">
            <a:extLst>
              <a:ext uri="{FF2B5EF4-FFF2-40B4-BE49-F238E27FC236}">
                <a16:creationId xmlns:a16="http://schemas.microsoft.com/office/drawing/2014/main" id="{348F3E2F-E229-A8C9-957E-BD20AE0DF1A0}"/>
              </a:ext>
            </a:extLst>
          </p:cNvPr>
          <p:cNvSpPr>
            <a:spLocks noGrp="1"/>
          </p:cNvSpPr>
          <p:nvPr>
            <p:ph idx="1"/>
          </p:nvPr>
        </p:nvSpPr>
        <p:spPr>
          <a:xfrm>
            <a:off x="838200" y="1825625"/>
            <a:ext cx="3067050" cy="4351338"/>
          </a:xfrm>
        </p:spPr>
        <p:txBody>
          <a:bodyPr>
            <a:normAutofit/>
          </a:bodyPr>
          <a:lstStyle/>
          <a:p>
            <a:r>
              <a:rPr lang="en-US" sz="2000" dirty="0"/>
              <a:t>Less carbon emissions and environmental impact reduction from the operations.</a:t>
            </a:r>
          </a:p>
          <a:p>
            <a:r>
              <a:rPr lang="en-US" sz="2000" dirty="0"/>
              <a:t>Enhanced use of energy, water, and raw materials in the organization.</a:t>
            </a:r>
          </a:p>
          <a:p>
            <a:r>
              <a:rPr lang="en-US" sz="2000" dirty="0"/>
              <a:t>Reducing the amount of waste production and eliminating pollution where necessary.</a:t>
            </a:r>
          </a:p>
        </p:txBody>
      </p:sp>
      <p:pic>
        <p:nvPicPr>
          <p:cNvPr id="5" name="Picture 4">
            <a:extLst>
              <a:ext uri="{FF2B5EF4-FFF2-40B4-BE49-F238E27FC236}">
                <a16:creationId xmlns:a16="http://schemas.microsoft.com/office/drawing/2014/main" id="{88486C9A-B6F9-B77D-F083-D112200FF417}"/>
              </a:ext>
            </a:extLst>
          </p:cNvPr>
          <p:cNvPicPr>
            <a:picLocks noChangeAspect="1"/>
          </p:cNvPicPr>
          <p:nvPr/>
        </p:nvPicPr>
        <p:blipFill>
          <a:blip r:embed="rId3"/>
          <a:stretch>
            <a:fillRect/>
          </a:stretch>
        </p:blipFill>
        <p:spPr>
          <a:xfrm>
            <a:off x="4438296" y="1366393"/>
            <a:ext cx="3848456" cy="4810570"/>
          </a:xfrm>
          <a:prstGeom prst="rect">
            <a:avLst/>
          </a:prstGeom>
        </p:spPr>
      </p:pic>
      <p:sp>
        <p:nvSpPr>
          <p:cNvPr id="6" name="TextBox 5">
            <a:extLst>
              <a:ext uri="{FF2B5EF4-FFF2-40B4-BE49-F238E27FC236}">
                <a16:creationId xmlns:a16="http://schemas.microsoft.com/office/drawing/2014/main" id="{9B43344F-127E-D066-EA93-1496785F60F5}"/>
              </a:ext>
            </a:extLst>
          </p:cNvPr>
          <p:cNvSpPr txBox="1"/>
          <p:nvPr/>
        </p:nvSpPr>
        <p:spPr>
          <a:xfrm>
            <a:off x="8286752" y="1690688"/>
            <a:ext cx="3514723" cy="646331"/>
          </a:xfrm>
          <a:prstGeom prst="rect">
            <a:avLst/>
          </a:prstGeom>
          <a:noFill/>
        </p:spPr>
        <p:txBody>
          <a:bodyPr wrap="square" rtlCol="0">
            <a:spAutoFit/>
          </a:bodyPr>
          <a:lstStyle/>
          <a:p>
            <a:r>
              <a:rPr lang="en-US" dirty="0"/>
              <a:t>Figure: Carbon effects trends</a:t>
            </a:r>
          </a:p>
          <a:p>
            <a:r>
              <a:rPr lang="en-US" dirty="0"/>
              <a:t>Source: IPCC (2023) </a:t>
            </a:r>
          </a:p>
        </p:txBody>
      </p:sp>
    </p:spTree>
    <p:extLst>
      <p:ext uri="{BB962C8B-B14F-4D97-AF65-F5344CB8AC3E}">
        <p14:creationId xmlns:p14="http://schemas.microsoft.com/office/powerpoint/2010/main" val="1870365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41AA3-875D-E389-CD90-D20EAB11A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96CA5-72D6-FFD1-1F7D-21F16671EDEE}"/>
              </a:ext>
            </a:extLst>
          </p:cNvPr>
          <p:cNvSpPr>
            <a:spLocks noGrp="1"/>
          </p:cNvSpPr>
          <p:nvPr>
            <p:ph type="title"/>
          </p:nvPr>
        </p:nvSpPr>
        <p:spPr/>
        <p:txBody>
          <a:bodyPr/>
          <a:lstStyle/>
          <a:p>
            <a:r>
              <a:rPr lang="en-US" dirty="0"/>
              <a:t>Accountability and Assumptions.</a:t>
            </a:r>
          </a:p>
        </p:txBody>
      </p:sp>
      <p:sp>
        <p:nvSpPr>
          <p:cNvPr id="3" name="Content Placeholder 2">
            <a:extLst>
              <a:ext uri="{FF2B5EF4-FFF2-40B4-BE49-F238E27FC236}">
                <a16:creationId xmlns:a16="http://schemas.microsoft.com/office/drawing/2014/main" id="{BE08155D-B815-9FFC-2696-695435BECF13}"/>
              </a:ext>
            </a:extLst>
          </p:cNvPr>
          <p:cNvSpPr>
            <a:spLocks noGrp="1"/>
          </p:cNvSpPr>
          <p:nvPr>
            <p:ph idx="1"/>
          </p:nvPr>
        </p:nvSpPr>
        <p:spPr>
          <a:xfrm>
            <a:off x="838200" y="1690688"/>
            <a:ext cx="2943225" cy="4351338"/>
          </a:xfrm>
        </p:spPr>
        <p:txBody>
          <a:bodyPr>
            <a:normAutofit/>
          </a:bodyPr>
          <a:lstStyle/>
          <a:p>
            <a:r>
              <a:rPr lang="en-US" sz="2000" dirty="0"/>
              <a:t>Adhering to the laws and regulations of the industry in order to escape fines.</a:t>
            </a:r>
          </a:p>
          <a:p>
            <a:r>
              <a:rPr lang="en-US" sz="2000" dirty="0"/>
              <a:t>Responsible management of the supply chains in order to maintain ethical sourcing and production.</a:t>
            </a:r>
          </a:p>
          <a:p>
            <a:r>
              <a:rPr lang="en-US" sz="2000" dirty="0"/>
              <a:t>Delivering customer, investor, and other stakeholder expectations.</a:t>
            </a:r>
          </a:p>
        </p:txBody>
      </p:sp>
      <p:pic>
        <p:nvPicPr>
          <p:cNvPr id="6" name="Picture 5">
            <a:extLst>
              <a:ext uri="{FF2B5EF4-FFF2-40B4-BE49-F238E27FC236}">
                <a16:creationId xmlns:a16="http://schemas.microsoft.com/office/drawing/2014/main" id="{321425E0-99C1-2F90-947D-82C5D53D17EA}"/>
              </a:ext>
            </a:extLst>
          </p:cNvPr>
          <p:cNvPicPr>
            <a:picLocks noChangeAspect="1"/>
          </p:cNvPicPr>
          <p:nvPr/>
        </p:nvPicPr>
        <p:blipFill>
          <a:blip r:embed="rId3"/>
          <a:stretch>
            <a:fillRect/>
          </a:stretch>
        </p:blipFill>
        <p:spPr>
          <a:xfrm>
            <a:off x="4138190" y="1369216"/>
            <a:ext cx="4272387" cy="4386050"/>
          </a:xfrm>
          <a:prstGeom prst="rect">
            <a:avLst/>
          </a:prstGeom>
        </p:spPr>
      </p:pic>
      <p:sp>
        <p:nvSpPr>
          <p:cNvPr id="7" name="TextBox 6">
            <a:extLst>
              <a:ext uri="{FF2B5EF4-FFF2-40B4-BE49-F238E27FC236}">
                <a16:creationId xmlns:a16="http://schemas.microsoft.com/office/drawing/2014/main" id="{054F13CA-F0F3-0AE1-A7A1-DBDE2FC19550}"/>
              </a:ext>
            </a:extLst>
          </p:cNvPr>
          <p:cNvSpPr txBox="1"/>
          <p:nvPr/>
        </p:nvSpPr>
        <p:spPr>
          <a:xfrm>
            <a:off x="8572500" y="1690688"/>
            <a:ext cx="2943225" cy="1200329"/>
          </a:xfrm>
          <a:prstGeom prst="rect">
            <a:avLst/>
          </a:prstGeom>
          <a:noFill/>
        </p:spPr>
        <p:txBody>
          <a:bodyPr wrap="square" rtlCol="0">
            <a:spAutoFit/>
          </a:bodyPr>
          <a:lstStyle/>
          <a:p>
            <a:r>
              <a:rPr lang="en-US" dirty="0"/>
              <a:t>Figure: Sustainable supply chain</a:t>
            </a:r>
          </a:p>
          <a:p>
            <a:r>
              <a:rPr lang="en-US" dirty="0"/>
              <a:t>Source:  World Economic Forum (2023)</a:t>
            </a:r>
          </a:p>
        </p:txBody>
      </p:sp>
    </p:spTree>
    <p:extLst>
      <p:ext uri="{BB962C8B-B14F-4D97-AF65-F5344CB8AC3E}">
        <p14:creationId xmlns:p14="http://schemas.microsoft.com/office/powerpoint/2010/main" val="2007800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8FE6B-E568-9E9A-32BE-5726FD4D69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4CF0D-628B-AC6D-D35A-D9521CFD8B71}"/>
              </a:ext>
            </a:extLst>
          </p:cNvPr>
          <p:cNvSpPr>
            <a:spLocks noGrp="1"/>
          </p:cNvSpPr>
          <p:nvPr>
            <p:ph type="title"/>
          </p:nvPr>
        </p:nvSpPr>
        <p:spPr/>
        <p:txBody>
          <a:bodyPr/>
          <a:lstStyle/>
          <a:p>
            <a:r>
              <a:rPr lang="en-US" dirty="0"/>
              <a:t>Environmental Management System, what is it?</a:t>
            </a:r>
          </a:p>
        </p:txBody>
      </p:sp>
      <p:sp>
        <p:nvSpPr>
          <p:cNvPr id="3" name="Content Placeholder 2">
            <a:extLst>
              <a:ext uri="{FF2B5EF4-FFF2-40B4-BE49-F238E27FC236}">
                <a16:creationId xmlns:a16="http://schemas.microsoft.com/office/drawing/2014/main" id="{F79649E6-210F-ECA3-64A0-AAFC62DD3AA3}"/>
              </a:ext>
            </a:extLst>
          </p:cNvPr>
          <p:cNvSpPr>
            <a:spLocks noGrp="1"/>
          </p:cNvSpPr>
          <p:nvPr>
            <p:ph idx="1"/>
          </p:nvPr>
        </p:nvSpPr>
        <p:spPr>
          <a:xfrm>
            <a:off x="838200" y="1825625"/>
            <a:ext cx="3705225" cy="4351338"/>
          </a:xfrm>
        </p:spPr>
        <p:txBody>
          <a:bodyPr>
            <a:normAutofit/>
          </a:bodyPr>
          <a:lstStyle/>
          <a:p>
            <a:r>
              <a:rPr lang="en-US" sz="2000" dirty="0"/>
              <a:t>An organized method that organizations employ in order to deal with the impacts of the environment.</a:t>
            </a:r>
          </a:p>
          <a:p>
            <a:r>
              <a:rPr lang="en-US" sz="2000" dirty="0"/>
              <a:t>Plans the sustainability-related operations in an organizational manner.</a:t>
            </a:r>
          </a:p>
          <a:p>
            <a:r>
              <a:rPr lang="en-US" sz="2000" dirty="0"/>
              <a:t>Incorporates environmental considerations in the normal business decisions.</a:t>
            </a:r>
          </a:p>
        </p:txBody>
      </p:sp>
      <p:pic>
        <p:nvPicPr>
          <p:cNvPr id="5" name="Picture 4">
            <a:extLst>
              <a:ext uri="{FF2B5EF4-FFF2-40B4-BE49-F238E27FC236}">
                <a16:creationId xmlns:a16="http://schemas.microsoft.com/office/drawing/2014/main" id="{DA69640A-BA35-4FDF-8C94-CA256999DD07}"/>
              </a:ext>
            </a:extLst>
          </p:cNvPr>
          <p:cNvPicPr>
            <a:picLocks noChangeAspect="1"/>
          </p:cNvPicPr>
          <p:nvPr/>
        </p:nvPicPr>
        <p:blipFill>
          <a:blip r:embed="rId3"/>
          <a:stretch>
            <a:fillRect/>
          </a:stretch>
        </p:blipFill>
        <p:spPr>
          <a:xfrm>
            <a:off x="4895440" y="1509444"/>
            <a:ext cx="5868219" cy="3839111"/>
          </a:xfrm>
          <a:prstGeom prst="rect">
            <a:avLst/>
          </a:prstGeom>
        </p:spPr>
      </p:pic>
      <p:sp>
        <p:nvSpPr>
          <p:cNvPr id="6" name="TextBox 5">
            <a:extLst>
              <a:ext uri="{FF2B5EF4-FFF2-40B4-BE49-F238E27FC236}">
                <a16:creationId xmlns:a16="http://schemas.microsoft.com/office/drawing/2014/main" id="{4E7DE31E-5D77-028D-E747-FF59FF27C1FD}"/>
              </a:ext>
            </a:extLst>
          </p:cNvPr>
          <p:cNvSpPr txBox="1"/>
          <p:nvPr/>
        </p:nvSpPr>
        <p:spPr>
          <a:xfrm>
            <a:off x="6605586" y="5334535"/>
            <a:ext cx="2447925" cy="646331"/>
          </a:xfrm>
          <a:prstGeom prst="rect">
            <a:avLst/>
          </a:prstGeom>
          <a:noFill/>
        </p:spPr>
        <p:txBody>
          <a:bodyPr wrap="square" rtlCol="0">
            <a:spAutoFit/>
          </a:bodyPr>
          <a:lstStyle/>
          <a:p>
            <a:r>
              <a:rPr lang="en-US" dirty="0"/>
              <a:t>Figure: EMS Structure</a:t>
            </a:r>
          </a:p>
          <a:p>
            <a:r>
              <a:rPr lang="en-US" dirty="0"/>
              <a:t>Source: ISO 1400</a:t>
            </a:r>
          </a:p>
        </p:txBody>
      </p:sp>
    </p:spTree>
    <p:extLst>
      <p:ext uri="{BB962C8B-B14F-4D97-AF65-F5344CB8AC3E}">
        <p14:creationId xmlns:p14="http://schemas.microsoft.com/office/powerpoint/2010/main" val="1502867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FC180-8FB2-9249-D55C-D1D5997FA7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2CA724-AB5A-9C72-1D9D-6E6237F52E0C}"/>
              </a:ext>
            </a:extLst>
          </p:cNvPr>
          <p:cNvSpPr>
            <a:spLocks noGrp="1"/>
          </p:cNvSpPr>
          <p:nvPr>
            <p:ph type="title"/>
          </p:nvPr>
        </p:nvSpPr>
        <p:spPr/>
        <p:txBody>
          <a:bodyPr/>
          <a:lstStyle/>
          <a:p>
            <a:r>
              <a:rPr lang="en-US" dirty="0"/>
              <a:t>Purpose of an EMS</a:t>
            </a:r>
          </a:p>
        </p:txBody>
      </p:sp>
      <p:sp>
        <p:nvSpPr>
          <p:cNvPr id="3" name="Content Placeholder 2">
            <a:extLst>
              <a:ext uri="{FF2B5EF4-FFF2-40B4-BE49-F238E27FC236}">
                <a16:creationId xmlns:a16="http://schemas.microsoft.com/office/drawing/2014/main" id="{4B3F402F-EEB2-284A-921E-1E8784AD3483}"/>
              </a:ext>
            </a:extLst>
          </p:cNvPr>
          <p:cNvSpPr>
            <a:spLocks noGrp="1"/>
          </p:cNvSpPr>
          <p:nvPr>
            <p:ph idx="1"/>
          </p:nvPr>
        </p:nvSpPr>
        <p:spPr>
          <a:xfrm>
            <a:off x="838200" y="1825625"/>
            <a:ext cx="3152775" cy="4351338"/>
          </a:xfrm>
        </p:spPr>
        <p:txBody>
          <a:bodyPr>
            <a:normAutofit/>
          </a:bodyPr>
          <a:lstStyle/>
          <a:p>
            <a:r>
              <a:rPr lang="en-US" sz="2000" dirty="0"/>
              <a:t>Assists the organizations in observing the impacts of their operations on the environment.</a:t>
            </a:r>
          </a:p>
          <a:p>
            <a:r>
              <a:rPr lang="en-US" sz="2000" dirty="0"/>
              <a:t>Enhances productivity by establishing where resources are squandered.</a:t>
            </a:r>
          </a:p>
          <a:p>
            <a:r>
              <a:rPr lang="en-US" sz="2000" dirty="0"/>
              <a:t>Makes sure that every legal and regulatory requirement is being addressed.</a:t>
            </a:r>
          </a:p>
        </p:txBody>
      </p:sp>
      <p:pic>
        <p:nvPicPr>
          <p:cNvPr id="5" name="Picture 4">
            <a:extLst>
              <a:ext uri="{FF2B5EF4-FFF2-40B4-BE49-F238E27FC236}">
                <a16:creationId xmlns:a16="http://schemas.microsoft.com/office/drawing/2014/main" id="{E1BFA1BB-30CD-875D-B830-751102E200D3}"/>
              </a:ext>
            </a:extLst>
          </p:cNvPr>
          <p:cNvPicPr>
            <a:picLocks noChangeAspect="1"/>
          </p:cNvPicPr>
          <p:nvPr/>
        </p:nvPicPr>
        <p:blipFill>
          <a:blip r:embed="rId3"/>
          <a:stretch>
            <a:fillRect/>
          </a:stretch>
        </p:blipFill>
        <p:spPr>
          <a:xfrm>
            <a:off x="4562475" y="1490840"/>
            <a:ext cx="5194530" cy="3876320"/>
          </a:xfrm>
          <a:prstGeom prst="rect">
            <a:avLst/>
          </a:prstGeom>
        </p:spPr>
      </p:pic>
      <p:sp>
        <p:nvSpPr>
          <p:cNvPr id="6" name="TextBox 5">
            <a:extLst>
              <a:ext uri="{FF2B5EF4-FFF2-40B4-BE49-F238E27FC236}">
                <a16:creationId xmlns:a16="http://schemas.microsoft.com/office/drawing/2014/main" id="{45010BA3-CCA0-7703-D507-95C255A0C72B}"/>
              </a:ext>
            </a:extLst>
          </p:cNvPr>
          <p:cNvSpPr txBox="1"/>
          <p:nvPr/>
        </p:nvSpPr>
        <p:spPr>
          <a:xfrm>
            <a:off x="4924425" y="5410200"/>
            <a:ext cx="4667250" cy="646331"/>
          </a:xfrm>
          <a:prstGeom prst="rect">
            <a:avLst/>
          </a:prstGeom>
          <a:noFill/>
        </p:spPr>
        <p:txBody>
          <a:bodyPr wrap="square" rtlCol="0">
            <a:spAutoFit/>
          </a:bodyPr>
          <a:lstStyle/>
          <a:p>
            <a:r>
              <a:rPr lang="en-US" dirty="0"/>
              <a:t>Figure: Environmental Performance graph</a:t>
            </a:r>
          </a:p>
          <a:p>
            <a:r>
              <a:rPr lang="en-US" dirty="0"/>
              <a:t>Source: OECD (2023)</a:t>
            </a:r>
          </a:p>
        </p:txBody>
      </p:sp>
    </p:spTree>
    <p:extLst>
      <p:ext uri="{BB962C8B-B14F-4D97-AF65-F5344CB8AC3E}">
        <p14:creationId xmlns:p14="http://schemas.microsoft.com/office/powerpoint/2010/main" val="3296645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241F1-C8AA-CA84-4E30-AC5DEE478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96E1D-3DAE-F191-5128-75235D0E2C00}"/>
              </a:ext>
            </a:extLst>
          </p:cNvPr>
          <p:cNvSpPr>
            <a:spLocks noGrp="1"/>
          </p:cNvSpPr>
          <p:nvPr>
            <p:ph type="title"/>
          </p:nvPr>
        </p:nvSpPr>
        <p:spPr/>
        <p:txBody>
          <a:bodyPr/>
          <a:lstStyle/>
          <a:p>
            <a:r>
              <a:rPr lang="en-US" dirty="0"/>
              <a:t>How EMS Works</a:t>
            </a:r>
          </a:p>
        </p:txBody>
      </p:sp>
      <p:sp>
        <p:nvSpPr>
          <p:cNvPr id="3" name="Content Placeholder 2">
            <a:extLst>
              <a:ext uri="{FF2B5EF4-FFF2-40B4-BE49-F238E27FC236}">
                <a16:creationId xmlns:a16="http://schemas.microsoft.com/office/drawing/2014/main" id="{E33ED81E-93AB-021D-3C91-6F1169E5AA58}"/>
              </a:ext>
            </a:extLst>
          </p:cNvPr>
          <p:cNvSpPr>
            <a:spLocks noGrp="1"/>
          </p:cNvSpPr>
          <p:nvPr>
            <p:ph idx="1"/>
          </p:nvPr>
        </p:nvSpPr>
        <p:spPr>
          <a:xfrm>
            <a:off x="838200" y="1825625"/>
            <a:ext cx="3486150" cy="4351338"/>
          </a:xfrm>
        </p:spPr>
        <p:txBody>
          <a:bodyPr>
            <a:normAutofit/>
          </a:bodyPr>
          <a:lstStyle/>
          <a:p>
            <a:pPr marL="0" indent="0">
              <a:buNone/>
            </a:pPr>
            <a:r>
              <a:rPr lang="en-US" sz="2000" dirty="0"/>
              <a:t>• Planning phase—identification of environmental impacts and setting of objectives.</a:t>
            </a:r>
          </a:p>
          <a:p>
            <a:pPr marL="0" indent="0">
              <a:buNone/>
            </a:pPr>
            <a:r>
              <a:rPr lang="en-US" sz="2000" dirty="0"/>
              <a:t>• Implementation stage where control and processes are realized.</a:t>
            </a:r>
          </a:p>
          <a:p>
            <a:pPr marL="0" indent="0">
              <a:buNone/>
            </a:pPr>
            <a:r>
              <a:rPr lang="en-US" sz="2000" dirty="0"/>
              <a:t>• Constellation stage where the performance is checked and assessed.</a:t>
            </a:r>
          </a:p>
          <a:p>
            <a:pPr marL="0" indent="0">
              <a:buNone/>
            </a:pPr>
            <a:r>
              <a:rPr lang="en-US" sz="2000" dirty="0"/>
              <a:t>• Improvement stage whereby decisions are made because of the results.</a:t>
            </a:r>
          </a:p>
        </p:txBody>
      </p:sp>
      <p:pic>
        <p:nvPicPr>
          <p:cNvPr id="5" name="Picture 4">
            <a:extLst>
              <a:ext uri="{FF2B5EF4-FFF2-40B4-BE49-F238E27FC236}">
                <a16:creationId xmlns:a16="http://schemas.microsoft.com/office/drawing/2014/main" id="{76655D86-EF3D-D473-9C9B-7BE7E46C929F}"/>
              </a:ext>
            </a:extLst>
          </p:cNvPr>
          <p:cNvPicPr>
            <a:picLocks noChangeAspect="1"/>
          </p:cNvPicPr>
          <p:nvPr/>
        </p:nvPicPr>
        <p:blipFill>
          <a:blip r:embed="rId3"/>
          <a:stretch>
            <a:fillRect/>
          </a:stretch>
        </p:blipFill>
        <p:spPr>
          <a:xfrm>
            <a:off x="5390835" y="1438021"/>
            <a:ext cx="4515480" cy="3639058"/>
          </a:xfrm>
          <a:prstGeom prst="rect">
            <a:avLst/>
          </a:prstGeom>
        </p:spPr>
      </p:pic>
      <p:sp>
        <p:nvSpPr>
          <p:cNvPr id="6" name="TextBox 5">
            <a:extLst>
              <a:ext uri="{FF2B5EF4-FFF2-40B4-BE49-F238E27FC236}">
                <a16:creationId xmlns:a16="http://schemas.microsoft.com/office/drawing/2014/main" id="{EA97849C-5148-E11B-5035-422EB01A33F4}"/>
              </a:ext>
            </a:extLst>
          </p:cNvPr>
          <p:cNvSpPr txBox="1"/>
          <p:nvPr/>
        </p:nvSpPr>
        <p:spPr>
          <a:xfrm>
            <a:off x="5534025" y="5143500"/>
            <a:ext cx="4286250" cy="646331"/>
          </a:xfrm>
          <a:prstGeom prst="rect">
            <a:avLst/>
          </a:prstGeom>
          <a:noFill/>
        </p:spPr>
        <p:txBody>
          <a:bodyPr wrap="square" rtlCol="0">
            <a:spAutoFit/>
          </a:bodyPr>
          <a:lstStyle/>
          <a:p>
            <a:r>
              <a:rPr lang="en-US" dirty="0"/>
              <a:t>Figure: PDCA Cycle</a:t>
            </a:r>
          </a:p>
          <a:p>
            <a:r>
              <a:rPr lang="en-US" dirty="0"/>
              <a:t>Source: ISO (2024)</a:t>
            </a:r>
          </a:p>
        </p:txBody>
      </p:sp>
    </p:spTree>
    <p:extLst>
      <p:ext uri="{BB962C8B-B14F-4D97-AF65-F5344CB8AC3E}">
        <p14:creationId xmlns:p14="http://schemas.microsoft.com/office/powerpoint/2010/main" val="565325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60CC0-E294-3E3A-D8F6-3B7EED789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BA013-46BC-B707-0438-0AEFF1BEF259}"/>
              </a:ext>
            </a:extLst>
          </p:cNvPr>
          <p:cNvSpPr>
            <a:spLocks noGrp="1"/>
          </p:cNvSpPr>
          <p:nvPr>
            <p:ph type="title"/>
          </p:nvPr>
        </p:nvSpPr>
        <p:spPr/>
        <p:txBody>
          <a:bodyPr/>
          <a:lstStyle/>
          <a:p>
            <a:r>
              <a:rPr lang="en-US" dirty="0"/>
              <a:t>Connection between sustainability and EMS.</a:t>
            </a:r>
          </a:p>
        </p:txBody>
      </p:sp>
      <p:sp>
        <p:nvSpPr>
          <p:cNvPr id="3" name="Content Placeholder 2">
            <a:extLst>
              <a:ext uri="{FF2B5EF4-FFF2-40B4-BE49-F238E27FC236}">
                <a16:creationId xmlns:a16="http://schemas.microsoft.com/office/drawing/2014/main" id="{9B765346-AFF0-927F-3F89-23E086D548FE}"/>
              </a:ext>
            </a:extLst>
          </p:cNvPr>
          <p:cNvSpPr>
            <a:spLocks noGrp="1"/>
          </p:cNvSpPr>
          <p:nvPr>
            <p:ph idx="1"/>
          </p:nvPr>
        </p:nvSpPr>
        <p:spPr>
          <a:xfrm>
            <a:off x="838200" y="1825625"/>
            <a:ext cx="4114800" cy="4351338"/>
          </a:xfrm>
        </p:spPr>
        <p:txBody>
          <a:bodyPr>
            <a:normAutofit/>
          </a:bodyPr>
          <a:lstStyle/>
          <a:p>
            <a:r>
              <a:rPr lang="en-US" sz="2000" dirty="0"/>
              <a:t>Sustainability offers the general meaning and aim of the environmental action.</a:t>
            </a:r>
          </a:p>
          <a:p>
            <a:r>
              <a:rPr lang="en-US" sz="2000" dirty="0"/>
              <a:t>EMS puts sustainability goals into practice and process.</a:t>
            </a:r>
          </a:p>
          <a:p>
            <a:r>
              <a:rPr lang="en-US" sz="2000" dirty="0"/>
              <a:t>They are taken together, both to provide long-term thinking and day-to-day management.</a:t>
            </a:r>
          </a:p>
        </p:txBody>
      </p:sp>
      <p:pic>
        <p:nvPicPr>
          <p:cNvPr id="7" name="Picture 6">
            <a:extLst>
              <a:ext uri="{FF2B5EF4-FFF2-40B4-BE49-F238E27FC236}">
                <a16:creationId xmlns:a16="http://schemas.microsoft.com/office/drawing/2014/main" id="{03192C8D-88E9-5171-F46E-CA0730100C78}"/>
              </a:ext>
            </a:extLst>
          </p:cNvPr>
          <p:cNvPicPr>
            <a:picLocks noChangeAspect="1"/>
          </p:cNvPicPr>
          <p:nvPr/>
        </p:nvPicPr>
        <p:blipFill>
          <a:blip r:embed="rId3"/>
          <a:stretch>
            <a:fillRect/>
          </a:stretch>
        </p:blipFill>
        <p:spPr>
          <a:xfrm>
            <a:off x="5175421" y="1690688"/>
            <a:ext cx="5626521" cy="3034032"/>
          </a:xfrm>
          <a:prstGeom prst="rect">
            <a:avLst/>
          </a:prstGeom>
        </p:spPr>
      </p:pic>
      <p:sp>
        <p:nvSpPr>
          <p:cNvPr id="8" name="TextBox 7">
            <a:extLst>
              <a:ext uri="{FF2B5EF4-FFF2-40B4-BE49-F238E27FC236}">
                <a16:creationId xmlns:a16="http://schemas.microsoft.com/office/drawing/2014/main" id="{EB6BEA75-6040-75AC-A316-A8F0EBE62A65}"/>
              </a:ext>
            </a:extLst>
          </p:cNvPr>
          <p:cNvSpPr txBox="1"/>
          <p:nvPr/>
        </p:nvSpPr>
        <p:spPr>
          <a:xfrm>
            <a:off x="5219700" y="4876800"/>
            <a:ext cx="5610225" cy="646331"/>
          </a:xfrm>
          <a:prstGeom prst="rect">
            <a:avLst/>
          </a:prstGeom>
          <a:noFill/>
        </p:spPr>
        <p:txBody>
          <a:bodyPr wrap="square" rtlCol="0">
            <a:spAutoFit/>
          </a:bodyPr>
          <a:lstStyle/>
          <a:p>
            <a:r>
              <a:rPr lang="en-US" dirty="0"/>
              <a:t>Figure: Sustainability, Innovation and Strategy</a:t>
            </a:r>
          </a:p>
          <a:p>
            <a:r>
              <a:rPr lang="en-US" dirty="0"/>
              <a:t>Source: Prospectus (2024)</a:t>
            </a:r>
          </a:p>
        </p:txBody>
      </p:sp>
    </p:spTree>
    <p:extLst>
      <p:ext uri="{BB962C8B-B14F-4D97-AF65-F5344CB8AC3E}">
        <p14:creationId xmlns:p14="http://schemas.microsoft.com/office/powerpoint/2010/main" val="3778769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A57D-6349-C48B-2ABA-48F75CBE1B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BA044-957B-ADD2-8FA6-1EFA1C147E46}"/>
              </a:ext>
            </a:extLst>
          </p:cNvPr>
          <p:cNvSpPr>
            <a:spLocks noGrp="1"/>
          </p:cNvSpPr>
          <p:nvPr>
            <p:ph type="title"/>
          </p:nvPr>
        </p:nvSpPr>
        <p:spPr/>
        <p:txBody>
          <a:bodyPr/>
          <a:lstStyle/>
          <a:p>
            <a:r>
              <a:rPr lang="en-US" dirty="0"/>
              <a:t>The way sustainability designs EMS.</a:t>
            </a:r>
          </a:p>
        </p:txBody>
      </p:sp>
      <p:sp>
        <p:nvSpPr>
          <p:cNvPr id="3" name="Content Placeholder 2">
            <a:extLst>
              <a:ext uri="{FF2B5EF4-FFF2-40B4-BE49-F238E27FC236}">
                <a16:creationId xmlns:a16="http://schemas.microsoft.com/office/drawing/2014/main" id="{8A4DD903-5932-EC41-A0FC-7FB6E4A43B23}"/>
              </a:ext>
            </a:extLst>
          </p:cNvPr>
          <p:cNvSpPr>
            <a:spLocks noGrp="1"/>
          </p:cNvSpPr>
          <p:nvPr>
            <p:ph idx="1"/>
          </p:nvPr>
        </p:nvSpPr>
        <p:spPr>
          <a:xfrm>
            <a:off x="838200" y="1690688"/>
            <a:ext cx="4295775" cy="4351338"/>
          </a:xfrm>
        </p:spPr>
        <p:txBody>
          <a:bodyPr>
            <a:normAutofit/>
          </a:bodyPr>
          <a:lstStyle/>
          <a:p>
            <a:pPr marL="0" indent="0">
              <a:buNone/>
            </a:pPr>
            <a:r>
              <a:rPr lang="en-US" sz="2000" dirty="0"/>
              <a:t>• Affects environmental policy creation processes in the organization.</a:t>
            </a:r>
          </a:p>
          <a:p>
            <a:pPr marL="0" indent="0">
              <a:buNone/>
            </a:pPr>
            <a:r>
              <a:rPr lang="en-US" sz="2000" dirty="0"/>
              <a:t>• Promotes long-term goal setting rather than short-term solutions.</a:t>
            </a:r>
          </a:p>
          <a:p>
            <a:pPr marL="0" indent="0">
              <a:buNone/>
            </a:pPr>
            <a:r>
              <a:rPr lang="en-US" sz="2000" dirty="0"/>
              <a:t>• Facilitates participation of various stakeholders within the organization.</a:t>
            </a:r>
          </a:p>
        </p:txBody>
      </p:sp>
      <p:pic>
        <p:nvPicPr>
          <p:cNvPr id="5" name="Picture 4">
            <a:extLst>
              <a:ext uri="{FF2B5EF4-FFF2-40B4-BE49-F238E27FC236}">
                <a16:creationId xmlns:a16="http://schemas.microsoft.com/office/drawing/2014/main" id="{5EFCBB0E-4B28-4C79-7DC1-2DE16409EAD1}"/>
              </a:ext>
            </a:extLst>
          </p:cNvPr>
          <p:cNvPicPr>
            <a:picLocks noChangeAspect="1"/>
          </p:cNvPicPr>
          <p:nvPr/>
        </p:nvPicPr>
        <p:blipFill>
          <a:blip r:embed="rId3"/>
          <a:stretch>
            <a:fillRect/>
          </a:stretch>
        </p:blipFill>
        <p:spPr>
          <a:xfrm>
            <a:off x="5428867" y="1409418"/>
            <a:ext cx="5487166" cy="4039164"/>
          </a:xfrm>
          <a:prstGeom prst="rect">
            <a:avLst/>
          </a:prstGeom>
        </p:spPr>
      </p:pic>
      <p:sp>
        <p:nvSpPr>
          <p:cNvPr id="7" name="TextBox 6">
            <a:extLst>
              <a:ext uri="{FF2B5EF4-FFF2-40B4-BE49-F238E27FC236}">
                <a16:creationId xmlns:a16="http://schemas.microsoft.com/office/drawing/2014/main" id="{3C726575-A4EE-9F73-FF9D-32F30F4912F8}"/>
              </a:ext>
            </a:extLst>
          </p:cNvPr>
          <p:cNvSpPr txBox="1"/>
          <p:nvPr/>
        </p:nvSpPr>
        <p:spPr>
          <a:xfrm>
            <a:off x="6600059" y="5448582"/>
            <a:ext cx="3381758" cy="646331"/>
          </a:xfrm>
          <a:prstGeom prst="rect">
            <a:avLst/>
          </a:prstGeom>
          <a:noFill/>
        </p:spPr>
        <p:txBody>
          <a:bodyPr wrap="square" rtlCol="0">
            <a:spAutoFit/>
          </a:bodyPr>
          <a:lstStyle/>
          <a:p>
            <a:r>
              <a:rPr lang="en-US" dirty="0"/>
              <a:t>Risk Management Framework</a:t>
            </a:r>
          </a:p>
          <a:p>
            <a:r>
              <a:rPr lang="en-US" dirty="0"/>
              <a:t>Source: WEF (2024)</a:t>
            </a:r>
          </a:p>
        </p:txBody>
      </p:sp>
    </p:spTree>
    <p:extLst>
      <p:ext uri="{BB962C8B-B14F-4D97-AF65-F5344CB8AC3E}">
        <p14:creationId xmlns:p14="http://schemas.microsoft.com/office/powerpoint/2010/main" val="2861908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FE8D1-E0B0-11A6-7407-17079C10E135}"/>
              </a:ext>
            </a:extLst>
          </p:cNvPr>
          <p:cNvSpPr>
            <a:spLocks noGrp="1"/>
          </p:cNvSpPr>
          <p:nvPr>
            <p:ph type="title"/>
          </p:nvPr>
        </p:nvSpPr>
        <p:spPr/>
        <p:txBody>
          <a:bodyPr/>
          <a:lstStyle/>
          <a:p>
            <a:r>
              <a:rPr lang="en-US" dirty="0"/>
              <a:t>The Need for Sustainability in Organizations.</a:t>
            </a:r>
          </a:p>
        </p:txBody>
      </p:sp>
      <p:sp>
        <p:nvSpPr>
          <p:cNvPr id="3" name="Content Placeholder 2">
            <a:extLst>
              <a:ext uri="{FF2B5EF4-FFF2-40B4-BE49-F238E27FC236}">
                <a16:creationId xmlns:a16="http://schemas.microsoft.com/office/drawing/2014/main" id="{DCC77392-0ADF-A5F2-78AC-42EBB13A2B5C}"/>
              </a:ext>
            </a:extLst>
          </p:cNvPr>
          <p:cNvSpPr>
            <a:spLocks noGrp="1"/>
          </p:cNvSpPr>
          <p:nvPr>
            <p:ph idx="1"/>
          </p:nvPr>
        </p:nvSpPr>
        <p:spPr>
          <a:xfrm>
            <a:off x="838200" y="1825625"/>
            <a:ext cx="3648075" cy="4351338"/>
          </a:xfrm>
        </p:spPr>
        <p:txBody>
          <a:bodyPr>
            <a:normAutofit/>
          </a:bodyPr>
          <a:lstStyle/>
          <a:p>
            <a:pPr marL="0" indent="0">
              <a:buNone/>
            </a:pPr>
            <a:r>
              <a:rPr lang="en-US" sz="2000" dirty="0"/>
              <a:t>• Specializing in more environmental regulations that organizations have to abide by.</a:t>
            </a:r>
          </a:p>
          <a:p>
            <a:pPr marL="0" indent="0">
              <a:buNone/>
            </a:pPr>
            <a:r>
              <a:rPr lang="en-US" sz="2000" dirty="0"/>
              <a:t>• The increasing threats posed by climate change that can disrupt operation.</a:t>
            </a:r>
          </a:p>
          <a:p>
            <a:pPr marL="0" indent="0">
              <a:buNone/>
            </a:pPr>
            <a:r>
              <a:rPr lang="en-US" sz="2000" dirty="0"/>
              <a:t>• Low supply of natural resources for long-term growth.</a:t>
            </a:r>
          </a:p>
          <a:p>
            <a:endParaRPr lang="en-US" sz="2000" dirty="0"/>
          </a:p>
        </p:txBody>
      </p:sp>
      <p:pic>
        <p:nvPicPr>
          <p:cNvPr id="5" name="Picture 4">
            <a:extLst>
              <a:ext uri="{FF2B5EF4-FFF2-40B4-BE49-F238E27FC236}">
                <a16:creationId xmlns:a16="http://schemas.microsoft.com/office/drawing/2014/main" id="{012A47FE-8753-2364-316C-6A8ED29590DC}"/>
              </a:ext>
            </a:extLst>
          </p:cNvPr>
          <p:cNvPicPr>
            <a:picLocks noChangeAspect="1"/>
          </p:cNvPicPr>
          <p:nvPr/>
        </p:nvPicPr>
        <p:blipFill>
          <a:blip r:embed="rId3"/>
          <a:stretch>
            <a:fillRect/>
          </a:stretch>
        </p:blipFill>
        <p:spPr>
          <a:xfrm>
            <a:off x="4686300" y="1444625"/>
            <a:ext cx="5638800" cy="3535680"/>
          </a:xfrm>
          <a:prstGeom prst="rect">
            <a:avLst/>
          </a:prstGeom>
        </p:spPr>
      </p:pic>
      <p:sp>
        <p:nvSpPr>
          <p:cNvPr id="6" name="TextBox 5">
            <a:extLst>
              <a:ext uri="{FF2B5EF4-FFF2-40B4-BE49-F238E27FC236}">
                <a16:creationId xmlns:a16="http://schemas.microsoft.com/office/drawing/2014/main" id="{6F370947-D986-DD58-62BB-2ABAAC03287D}"/>
              </a:ext>
            </a:extLst>
          </p:cNvPr>
          <p:cNvSpPr txBox="1"/>
          <p:nvPr/>
        </p:nvSpPr>
        <p:spPr>
          <a:xfrm>
            <a:off x="4886325" y="5019675"/>
            <a:ext cx="4972050" cy="646331"/>
          </a:xfrm>
          <a:prstGeom prst="rect">
            <a:avLst/>
          </a:prstGeom>
          <a:noFill/>
        </p:spPr>
        <p:txBody>
          <a:bodyPr wrap="square" rtlCol="0">
            <a:spAutoFit/>
          </a:bodyPr>
          <a:lstStyle/>
          <a:p>
            <a:r>
              <a:rPr lang="en-US" dirty="0"/>
              <a:t>Climate Risk Assessment</a:t>
            </a:r>
          </a:p>
          <a:p>
            <a:r>
              <a:rPr lang="en-US" dirty="0"/>
              <a:t>Source: IPCC (2023)</a:t>
            </a:r>
          </a:p>
        </p:txBody>
      </p:sp>
    </p:spTree>
    <p:extLst>
      <p:ext uri="{BB962C8B-B14F-4D97-AF65-F5344CB8AC3E}">
        <p14:creationId xmlns:p14="http://schemas.microsoft.com/office/powerpoint/2010/main" val="3752815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6FEDB-847B-97C0-50AA-68B9FAA0AA68}"/>
              </a:ext>
            </a:extLst>
          </p:cNvPr>
          <p:cNvSpPr>
            <a:spLocks noGrp="1"/>
          </p:cNvSpPr>
          <p:nvPr>
            <p:ph type="title"/>
          </p:nvPr>
        </p:nvSpPr>
        <p:spPr/>
        <p:txBody>
          <a:bodyPr/>
          <a:lstStyle/>
          <a:p>
            <a:r>
              <a:rPr lang="en-US" dirty="0"/>
              <a:t>Pressures on Organizations Which are external.</a:t>
            </a:r>
          </a:p>
        </p:txBody>
      </p:sp>
      <p:sp>
        <p:nvSpPr>
          <p:cNvPr id="3" name="Content Placeholder 2">
            <a:extLst>
              <a:ext uri="{FF2B5EF4-FFF2-40B4-BE49-F238E27FC236}">
                <a16:creationId xmlns:a16="http://schemas.microsoft.com/office/drawing/2014/main" id="{7D9AB1DE-0464-0E54-E657-0D3D8A926047}"/>
              </a:ext>
            </a:extLst>
          </p:cNvPr>
          <p:cNvSpPr>
            <a:spLocks noGrp="1"/>
          </p:cNvSpPr>
          <p:nvPr>
            <p:ph idx="1"/>
          </p:nvPr>
        </p:nvSpPr>
        <p:spPr>
          <a:xfrm>
            <a:off x="838200" y="1825625"/>
            <a:ext cx="3438525" cy="4351338"/>
          </a:xfrm>
        </p:spPr>
        <p:txBody>
          <a:bodyPr>
            <a:normAutofit/>
          </a:bodyPr>
          <a:lstStyle/>
          <a:p>
            <a:pPr marL="0" indent="0">
              <a:buNone/>
            </a:pPr>
            <a:r>
              <a:rPr lang="en-US" sz="2000" dirty="0"/>
              <a:t>• Investors are increasingly concentrating on responsible business in terms of the environment.</a:t>
            </a:r>
          </a:p>
          <a:p>
            <a:pPr marL="0" indent="0">
              <a:buNone/>
            </a:pPr>
            <a:r>
              <a:rPr lang="en-US" sz="2000" dirty="0"/>
              <a:t>• Customer: Customers like organizations that practice sustainability.</a:t>
            </a:r>
          </a:p>
          <a:p>
            <a:pPr marL="0" indent="0">
              <a:buNone/>
            </a:pPr>
            <a:r>
              <a:rPr lang="en-US" sz="2000" dirty="0"/>
              <a:t>• There is a growing competition with rising implementation of sustainability strategies by more companies.</a:t>
            </a:r>
          </a:p>
          <a:p>
            <a:endParaRPr lang="en-US" sz="2000" dirty="0"/>
          </a:p>
        </p:txBody>
      </p:sp>
      <p:pic>
        <p:nvPicPr>
          <p:cNvPr id="1026" name="Picture 2" descr="The Rise of ESG Investing | CFA Institute">
            <a:extLst>
              <a:ext uri="{FF2B5EF4-FFF2-40B4-BE49-F238E27FC236}">
                <a16:creationId xmlns:a16="http://schemas.microsoft.com/office/drawing/2014/main" id="{D5EC4D38-2E40-42F7-D061-E08CDAB6B6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6725" y="1238250"/>
            <a:ext cx="6977151" cy="36893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3FFE821-3A04-F687-9B2F-8B1AA2055DD3}"/>
              </a:ext>
            </a:extLst>
          </p:cNvPr>
          <p:cNvSpPr txBox="1"/>
          <p:nvPr/>
        </p:nvSpPr>
        <p:spPr>
          <a:xfrm>
            <a:off x="4819650" y="5095875"/>
            <a:ext cx="5810250" cy="646331"/>
          </a:xfrm>
          <a:prstGeom prst="rect">
            <a:avLst/>
          </a:prstGeom>
          <a:noFill/>
        </p:spPr>
        <p:txBody>
          <a:bodyPr wrap="square" rtlCol="0">
            <a:spAutoFit/>
          </a:bodyPr>
          <a:lstStyle/>
          <a:p>
            <a:r>
              <a:rPr lang="en-US" dirty="0"/>
              <a:t>ESG Growth Chart</a:t>
            </a:r>
            <a:br>
              <a:rPr lang="en-US" dirty="0"/>
            </a:br>
            <a:r>
              <a:rPr lang="en-US" dirty="0"/>
              <a:t>Source : PwC (2024)</a:t>
            </a:r>
          </a:p>
        </p:txBody>
      </p:sp>
    </p:spTree>
    <p:extLst>
      <p:ext uri="{BB962C8B-B14F-4D97-AF65-F5344CB8AC3E}">
        <p14:creationId xmlns:p14="http://schemas.microsoft.com/office/powerpoint/2010/main" val="3436598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0B30-7EFF-F175-DE39-9B2E0AE5406B}"/>
              </a:ext>
            </a:extLst>
          </p:cNvPr>
          <p:cNvSpPr>
            <a:spLocks noGrp="1"/>
          </p:cNvSpPr>
          <p:nvPr>
            <p:ph type="title"/>
          </p:nvPr>
        </p:nvSpPr>
        <p:spPr/>
        <p:txBody>
          <a:bodyPr/>
          <a:lstStyle/>
          <a:p>
            <a:r>
              <a:rPr lang="en-US" dirty="0"/>
              <a:t>The support of EMS to sustainability.</a:t>
            </a:r>
          </a:p>
        </p:txBody>
      </p:sp>
      <p:sp>
        <p:nvSpPr>
          <p:cNvPr id="3" name="Content Placeholder 2">
            <a:extLst>
              <a:ext uri="{FF2B5EF4-FFF2-40B4-BE49-F238E27FC236}">
                <a16:creationId xmlns:a16="http://schemas.microsoft.com/office/drawing/2014/main" id="{F71FA232-C813-EB2F-FAEE-70DE28C41AF4}"/>
              </a:ext>
            </a:extLst>
          </p:cNvPr>
          <p:cNvSpPr>
            <a:spLocks noGrp="1"/>
          </p:cNvSpPr>
          <p:nvPr>
            <p:ph idx="1"/>
          </p:nvPr>
        </p:nvSpPr>
        <p:spPr>
          <a:xfrm>
            <a:off x="838200" y="1825625"/>
            <a:ext cx="5086350" cy="4351338"/>
          </a:xfrm>
        </p:spPr>
        <p:txBody>
          <a:bodyPr/>
          <a:lstStyle/>
          <a:p>
            <a:pPr marL="0" indent="0">
              <a:buNone/>
            </a:pPr>
            <a:r>
              <a:rPr lang="en-US" dirty="0"/>
              <a:t>• Gives good procedures to control environmental responsibilities.</a:t>
            </a:r>
          </a:p>
          <a:p>
            <a:r>
              <a:rPr lang="en-US" dirty="0"/>
              <a:t>Action: Measures performance in a quantifiable way to monitor the progress.</a:t>
            </a:r>
          </a:p>
          <a:p>
            <a:pPr marL="0" indent="0">
              <a:buNone/>
            </a:pPr>
            <a:r>
              <a:rPr lang="en-US" dirty="0"/>
              <a:t>• Incorporates sustainability into operations and making decisions.</a:t>
            </a:r>
          </a:p>
          <a:p>
            <a:endParaRPr lang="en-US" dirty="0"/>
          </a:p>
        </p:txBody>
      </p:sp>
      <p:pic>
        <p:nvPicPr>
          <p:cNvPr id="5" name="Picture 4">
            <a:extLst>
              <a:ext uri="{FF2B5EF4-FFF2-40B4-BE49-F238E27FC236}">
                <a16:creationId xmlns:a16="http://schemas.microsoft.com/office/drawing/2014/main" id="{4A5C431C-97FE-10A9-8AE0-B99E8C0A9CF3}"/>
              </a:ext>
            </a:extLst>
          </p:cNvPr>
          <p:cNvPicPr>
            <a:picLocks noChangeAspect="1"/>
          </p:cNvPicPr>
          <p:nvPr/>
        </p:nvPicPr>
        <p:blipFill>
          <a:blip r:embed="rId3"/>
          <a:stretch>
            <a:fillRect/>
          </a:stretch>
        </p:blipFill>
        <p:spPr>
          <a:xfrm>
            <a:off x="5991225" y="1415183"/>
            <a:ext cx="3705616" cy="3793546"/>
          </a:xfrm>
          <a:prstGeom prst="rect">
            <a:avLst/>
          </a:prstGeom>
        </p:spPr>
      </p:pic>
      <p:sp>
        <p:nvSpPr>
          <p:cNvPr id="6" name="TextBox 5">
            <a:extLst>
              <a:ext uri="{FF2B5EF4-FFF2-40B4-BE49-F238E27FC236}">
                <a16:creationId xmlns:a16="http://schemas.microsoft.com/office/drawing/2014/main" id="{963E831D-A959-1716-7059-17C1A274E681}"/>
              </a:ext>
            </a:extLst>
          </p:cNvPr>
          <p:cNvSpPr txBox="1"/>
          <p:nvPr/>
        </p:nvSpPr>
        <p:spPr>
          <a:xfrm>
            <a:off x="6096000" y="5334000"/>
            <a:ext cx="3486150" cy="646331"/>
          </a:xfrm>
          <a:prstGeom prst="rect">
            <a:avLst/>
          </a:prstGeom>
          <a:noFill/>
        </p:spPr>
        <p:txBody>
          <a:bodyPr wrap="square" rtlCol="0">
            <a:spAutoFit/>
          </a:bodyPr>
          <a:lstStyle/>
          <a:p>
            <a:r>
              <a:rPr lang="en-US" dirty="0"/>
              <a:t>EMS implementation flow</a:t>
            </a:r>
          </a:p>
          <a:p>
            <a:r>
              <a:rPr lang="en-US" dirty="0"/>
              <a:t>Source: ISO (2024)</a:t>
            </a:r>
          </a:p>
        </p:txBody>
      </p:sp>
    </p:spTree>
    <p:extLst>
      <p:ext uri="{BB962C8B-B14F-4D97-AF65-F5344CB8AC3E}">
        <p14:creationId xmlns:p14="http://schemas.microsoft.com/office/powerpoint/2010/main" val="721194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E0901-FF19-9090-E3C8-CB9666D0591E}"/>
              </a:ext>
            </a:extLst>
          </p:cNvPr>
          <p:cNvSpPr>
            <a:spLocks noGrp="1"/>
          </p:cNvSpPr>
          <p:nvPr>
            <p:ph type="title"/>
          </p:nvPr>
        </p:nvSpPr>
        <p:spPr/>
        <p:txBody>
          <a:bodyPr/>
          <a:lstStyle/>
          <a:p>
            <a:r>
              <a:rPr lang="en-US" dirty="0"/>
              <a:t>Continuous Improvement.</a:t>
            </a:r>
          </a:p>
        </p:txBody>
      </p:sp>
      <p:sp>
        <p:nvSpPr>
          <p:cNvPr id="3" name="Content Placeholder 2">
            <a:extLst>
              <a:ext uri="{FF2B5EF4-FFF2-40B4-BE49-F238E27FC236}">
                <a16:creationId xmlns:a16="http://schemas.microsoft.com/office/drawing/2014/main" id="{8C9EA774-32D4-6C53-3B44-34BE58089F64}"/>
              </a:ext>
            </a:extLst>
          </p:cNvPr>
          <p:cNvSpPr>
            <a:spLocks noGrp="1"/>
          </p:cNvSpPr>
          <p:nvPr>
            <p:ph idx="1"/>
          </p:nvPr>
        </p:nvSpPr>
        <p:spPr>
          <a:xfrm>
            <a:off x="1028700" y="1569243"/>
            <a:ext cx="3419475" cy="4351338"/>
          </a:xfrm>
        </p:spPr>
        <p:txBody>
          <a:bodyPr>
            <a:normAutofit/>
          </a:bodyPr>
          <a:lstStyle/>
          <a:p>
            <a:pPr marL="0" indent="0">
              <a:buNone/>
            </a:pPr>
            <a:r>
              <a:rPr lang="en-US" sz="2000" dirty="0"/>
              <a:t>• Laying down precise and quantifiable environmental targets of the organization.</a:t>
            </a:r>
          </a:p>
          <a:p>
            <a:pPr marL="0" indent="0">
              <a:buNone/>
            </a:pPr>
            <a:r>
              <a:rPr lang="en-US" sz="2000" dirty="0"/>
              <a:t>• On a regular basis, performance should be reviewed to determine areas of weakness.</a:t>
            </a:r>
          </a:p>
          <a:p>
            <a:pPr marL="0" indent="0">
              <a:buNone/>
            </a:pPr>
            <a:r>
              <a:rPr lang="en-US" sz="2000" dirty="0"/>
              <a:t>• Continuing to make changes to better efficiency and less impact according to Deloitte (2023) .</a:t>
            </a:r>
          </a:p>
          <a:p>
            <a:endParaRPr lang="en-US" sz="2000" dirty="0"/>
          </a:p>
        </p:txBody>
      </p:sp>
      <p:pic>
        <p:nvPicPr>
          <p:cNvPr id="2050" name="Picture 2" descr="5 Step Continuous Improvement Cycle | Blog | Ultra Consultants">
            <a:extLst>
              <a:ext uri="{FF2B5EF4-FFF2-40B4-BE49-F238E27FC236}">
                <a16:creationId xmlns:a16="http://schemas.microsoft.com/office/drawing/2014/main" id="{B7A86CF0-1207-7BF8-4CB5-8718CB943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5374" y="1287461"/>
            <a:ext cx="4010025" cy="40100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D714725-BEF9-C66A-A264-313F54CC7C5D}"/>
              </a:ext>
            </a:extLst>
          </p:cNvPr>
          <p:cNvSpPr txBox="1"/>
          <p:nvPr/>
        </p:nvSpPr>
        <p:spPr>
          <a:xfrm>
            <a:off x="4981575" y="5448300"/>
            <a:ext cx="3905250" cy="646331"/>
          </a:xfrm>
          <a:prstGeom prst="rect">
            <a:avLst/>
          </a:prstGeom>
          <a:noFill/>
        </p:spPr>
        <p:txBody>
          <a:bodyPr wrap="square" rtlCol="0">
            <a:spAutoFit/>
          </a:bodyPr>
          <a:lstStyle/>
          <a:p>
            <a:r>
              <a:rPr lang="en-US" dirty="0"/>
              <a:t>Continuous Improvement Cycle</a:t>
            </a:r>
          </a:p>
          <a:p>
            <a:r>
              <a:rPr lang="en-US" dirty="0"/>
              <a:t>Source: Deloitte (2023)</a:t>
            </a:r>
          </a:p>
        </p:txBody>
      </p:sp>
    </p:spTree>
    <p:extLst>
      <p:ext uri="{BB962C8B-B14F-4D97-AF65-F5344CB8AC3E}">
        <p14:creationId xmlns:p14="http://schemas.microsoft.com/office/powerpoint/2010/main" val="2476463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05A17-A4D5-93BA-7309-59A2765A9602}"/>
              </a:ext>
            </a:extLst>
          </p:cNvPr>
          <p:cNvSpPr>
            <a:spLocks noGrp="1"/>
          </p:cNvSpPr>
          <p:nvPr>
            <p:ph type="title"/>
          </p:nvPr>
        </p:nvSpPr>
        <p:spPr/>
        <p:txBody>
          <a:bodyPr/>
          <a:lstStyle/>
          <a:p>
            <a:r>
              <a:rPr lang="en-US" dirty="0"/>
              <a:t>EMS Operational Benefits.</a:t>
            </a:r>
          </a:p>
        </p:txBody>
      </p:sp>
      <p:sp>
        <p:nvSpPr>
          <p:cNvPr id="3" name="Content Placeholder 2">
            <a:extLst>
              <a:ext uri="{FF2B5EF4-FFF2-40B4-BE49-F238E27FC236}">
                <a16:creationId xmlns:a16="http://schemas.microsoft.com/office/drawing/2014/main" id="{0AE5BAED-4EE4-7F2C-52A3-770C07DF7D75}"/>
              </a:ext>
            </a:extLst>
          </p:cNvPr>
          <p:cNvSpPr>
            <a:spLocks noGrp="1"/>
          </p:cNvSpPr>
          <p:nvPr>
            <p:ph idx="1"/>
          </p:nvPr>
        </p:nvSpPr>
        <p:spPr>
          <a:xfrm>
            <a:off x="838200" y="1825625"/>
            <a:ext cx="3705225" cy="4351338"/>
          </a:xfrm>
        </p:spPr>
        <p:txBody>
          <a:bodyPr>
            <a:normAutofit/>
          </a:bodyPr>
          <a:lstStyle/>
          <a:p>
            <a:pPr marL="0" indent="0">
              <a:buNone/>
            </a:pPr>
            <a:r>
              <a:rPr lang="en-US" sz="2000" dirty="0"/>
              <a:t>• Cuts back on the operation expenses through efficiency and wasting.</a:t>
            </a:r>
          </a:p>
          <a:p>
            <a:pPr marL="0" indent="0">
              <a:buNone/>
            </a:pPr>
            <a:r>
              <a:rPr lang="en-US" sz="2000" dirty="0"/>
              <a:t>• Enhances better utilization of energy, water, and other resources.</a:t>
            </a:r>
          </a:p>
          <a:p>
            <a:pPr marL="0" indent="0">
              <a:buNone/>
            </a:pPr>
            <a:r>
              <a:rPr lang="en-US" sz="2000" dirty="0"/>
              <a:t>• Reduces environmental accidents and fines.</a:t>
            </a:r>
          </a:p>
          <a:p>
            <a:endParaRPr lang="en-US" sz="2000" dirty="0"/>
          </a:p>
        </p:txBody>
      </p:sp>
      <p:pic>
        <p:nvPicPr>
          <p:cNvPr id="3076" name="Picture 4" descr="Balancing Environmental Sustainability and Long Run Costs - FasterCapital">
            <a:extLst>
              <a:ext uri="{FF2B5EF4-FFF2-40B4-BE49-F238E27FC236}">
                <a16:creationId xmlns:a16="http://schemas.microsoft.com/office/drawing/2014/main" id="{9B9F9317-6BFE-7C91-F225-08C2E9501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3425" y="1690688"/>
            <a:ext cx="5578929" cy="3124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54397BE-6279-DD84-8ED8-BD783471F3A8}"/>
              </a:ext>
            </a:extLst>
          </p:cNvPr>
          <p:cNvSpPr txBox="1"/>
          <p:nvPr/>
        </p:nvSpPr>
        <p:spPr>
          <a:xfrm>
            <a:off x="4705350" y="5048250"/>
            <a:ext cx="4829175" cy="646331"/>
          </a:xfrm>
          <a:prstGeom prst="rect">
            <a:avLst/>
          </a:prstGeom>
          <a:noFill/>
        </p:spPr>
        <p:txBody>
          <a:bodyPr wrap="square" rtlCol="0">
            <a:spAutoFit/>
          </a:bodyPr>
          <a:lstStyle/>
          <a:p>
            <a:r>
              <a:rPr lang="en-US" dirty="0"/>
              <a:t>Cost Saving from Sustainability</a:t>
            </a:r>
          </a:p>
          <a:p>
            <a:r>
              <a:rPr lang="en-US" dirty="0"/>
              <a:t>Source: OECD (2022)</a:t>
            </a:r>
          </a:p>
        </p:txBody>
      </p:sp>
    </p:spTree>
    <p:extLst>
      <p:ext uri="{BB962C8B-B14F-4D97-AF65-F5344CB8AC3E}">
        <p14:creationId xmlns:p14="http://schemas.microsoft.com/office/powerpoint/2010/main" val="2050083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9A472-4707-9064-3112-8FF3BBAC51D3}"/>
              </a:ext>
            </a:extLst>
          </p:cNvPr>
          <p:cNvSpPr>
            <a:spLocks noGrp="1"/>
          </p:cNvSpPr>
          <p:nvPr>
            <p:ph type="title"/>
          </p:nvPr>
        </p:nvSpPr>
        <p:spPr/>
        <p:txBody>
          <a:bodyPr/>
          <a:lstStyle/>
          <a:p>
            <a:r>
              <a:rPr lang="en-US" dirty="0"/>
              <a:t>Strategic Advantages to EMS.</a:t>
            </a:r>
          </a:p>
        </p:txBody>
      </p:sp>
      <p:sp>
        <p:nvSpPr>
          <p:cNvPr id="3" name="Content Placeholder 2">
            <a:extLst>
              <a:ext uri="{FF2B5EF4-FFF2-40B4-BE49-F238E27FC236}">
                <a16:creationId xmlns:a16="http://schemas.microsoft.com/office/drawing/2014/main" id="{14940CD0-73D1-2653-96A5-03BC3D6C9E29}"/>
              </a:ext>
            </a:extLst>
          </p:cNvPr>
          <p:cNvSpPr>
            <a:spLocks noGrp="1"/>
          </p:cNvSpPr>
          <p:nvPr>
            <p:ph idx="1"/>
          </p:nvPr>
        </p:nvSpPr>
        <p:spPr>
          <a:xfrm>
            <a:off x="838200" y="1825625"/>
            <a:ext cx="3781425" cy="4351338"/>
          </a:xfrm>
        </p:spPr>
        <p:txBody>
          <a:bodyPr>
            <a:normAutofit/>
          </a:bodyPr>
          <a:lstStyle/>
          <a:p>
            <a:pPr marL="0" indent="0">
              <a:buNone/>
            </a:pPr>
            <a:r>
              <a:rPr lang="en-US" sz="2000" dirty="0"/>
              <a:t>• Enhances the reputation and the image of the organization.</a:t>
            </a:r>
          </a:p>
          <a:p>
            <a:pPr marL="0" indent="0">
              <a:buNone/>
            </a:pPr>
            <a:r>
              <a:rPr lang="en-US" sz="2000" dirty="0"/>
              <a:t>• Gains customer trust, investor trust, and regulatory trust.</a:t>
            </a:r>
          </a:p>
          <a:p>
            <a:pPr marL="0" indent="0">
              <a:buNone/>
            </a:pPr>
            <a:r>
              <a:rPr lang="en-US" sz="2000" dirty="0"/>
              <a:t>• Promotes creativity and creation of new opportunities.</a:t>
            </a:r>
          </a:p>
          <a:p>
            <a:endParaRPr lang="en-US" sz="2000" dirty="0"/>
          </a:p>
        </p:txBody>
      </p:sp>
      <p:pic>
        <p:nvPicPr>
          <p:cNvPr id="4" name="Picture 3">
            <a:extLst>
              <a:ext uri="{FF2B5EF4-FFF2-40B4-BE49-F238E27FC236}">
                <a16:creationId xmlns:a16="http://schemas.microsoft.com/office/drawing/2014/main" id="{AFDFED44-3E6D-8C72-5FFC-B4B0A7147FA4}"/>
              </a:ext>
            </a:extLst>
          </p:cNvPr>
          <p:cNvPicPr>
            <a:picLocks noChangeAspect="1"/>
          </p:cNvPicPr>
          <p:nvPr/>
        </p:nvPicPr>
        <p:blipFill>
          <a:blip r:embed="rId3"/>
          <a:stretch>
            <a:fillRect/>
          </a:stretch>
        </p:blipFill>
        <p:spPr>
          <a:xfrm>
            <a:off x="4828405" y="1895475"/>
            <a:ext cx="5315720" cy="2476500"/>
          </a:xfrm>
          <a:prstGeom prst="rect">
            <a:avLst/>
          </a:prstGeom>
        </p:spPr>
      </p:pic>
      <p:sp>
        <p:nvSpPr>
          <p:cNvPr id="5" name="TextBox 4">
            <a:extLst>
              <a:ext uri="{FF2B5EF4-FFF2-40B4-BE49-F238E27FC236}">
                <a16:creationId xmlns:a16="http://schemas.microsoft.com/office/drawing/2014/main" id="{A716A717-B1BD-C405-F99B-B9F6E94DF36D}"/>
              </a:ext>
            </a:extLst>
          </p:cNvPr>
          <p:cNvSpPr txBox="1"/>
          <p:nvPr/>
        </p:nvSpPr>
        <p:spPr>
          <a:xfrm>
            <a:off x="4905375" y="4486275"/>
            <a:ext cx="5076825" cy="646331"/>
          </a:xfrm>
          <a:prstGeom prst="rect">
            <a:avLst/>
          </a:prstGeom>
          <a:noFill/>
        </p:spPr>
        <p:txBody>
          <a:bodyPr wrap="square" rtlCol="0">
            <a:spAutoFit/>
          </a:bodyPr>
          <a:lstStyle/>
          <a:p>
            <a:r>
              <a:rPr lang="en-US" dirty="0"/>
              <a:t>ESG Score</a:t>
            </a:r>
          </a:p>
          <a:p>
            <a:r>
              <a:rPr lang="en-US" dirty="0"/>
              <a:t>Source: Deloitte (2023)</a:t>
            </a:r>
          </a:p>
        </p:txBody>
      </p:sp>
    </p:spTree>
    <p:extLst>
      <p:ext uri="{BB962C8B-B14F-4D97-AF65-F5344CB8AC3E}">
        <p14:creationId xmlns:p14="http://schemas.microsoft.com/office/powerpoint/2010/main" val="3695934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A117F-1B63-FAD0-8C7C-64ED71143D48}"/>
              </a:ext>
            </a:extLst>
          </p:cNvPr>
          <p:cNvSpPr>
            <a:spLocks noGrp="1"/>
          </p:cNvSpPr>
          <p:nvPr>
            <p:ph type="title"/>
          </p:nvPr>
        </p:nvSpPr>
        <p:spPr/>
        <p:txBody>
          <a:bodyPr/>
          <a:lstStyle/>
          <a:p>
            <a:r>
              <a:rPr lang="en-US" dirty="0"/>
              <a:t> Conclusion</a:t>
            </a:r>
          </a:p>
        </p:txBody>
      </p:sp>
      <p:sp>
        <p:nvSpPr>
          <p:cNvPr id="3" name="Content Placeholder 2">
            <a:extLst>
              <a:ext uri="{FF2B5EF4-FFF2-40B4-BE49-F238E27FC236}">
                <a16:creationId xmlns:a16="http://schemas.microsoft.com/office/drawing/2014/main" id="{AF853410-F1CD-B370-9741-FE031FBBE7AC}"/>
              </a:ext>
            </a:extLst>
          </p:cNvPr>
          <p:cNvSpPr>
            <a:spLocks noGrp="1"/>
          </p:cNvSpPr>
          <p:nvPr>
            <p:ph idx="1"/>
          </p:nvPr>
        </p:nvSpPr>
        <p:spPr>
          <a:xfrm>
            <a:off x="838200" y="1825625"/>
            <a:ext cx="3857625" cy="4351338"/>
          </a:xfrm>
        </p:spPr>
        <p:txBody>
          <a:bodyPr>
            <a:normAutofit/>
          </a:bodyPr>
          <a:lstStyle/>
          <a:p>
            <a:r>
              <a:rPr lang="en-US" sz="2000" dirty="0"/>
              <a:t>Sustainability is emerging as a key to success on a long-term basis.</a:t>
            </a:r>
          </a:p>
          <a:p>
            <a:r>
              <a:rPr lang="en-US" sz="2000" dirty="0"/>
              <a:t>EMS is an organization that has a systematic means of attaining sustainability goals.</a:t>
            </a:r>
          </a:p>
          <a:p>
            <a:r>
              <a:rPr lang="en-US" sz="2000" dirty="0"/>
              <a:t>Early-acting organizations have chances of succeeding in the future.</a:t>
            </a:r>
          </a:p>
          <a:p>
            <a:endParaRPr lang="en-US" sz="2000" dirty="0"/>
          </a:p>
        </p:txBody>
      </p:sp>
      <p:pic>
        <p:nvPicPr>
          <p:cNvPr id="4100" name="Picture 4" descr="Sustainability Roadmap Template for PowerPoint and Google Slides - SlideKit">
            <a:extLst>
              <a:ext uri="{FF2B5EF4-FFF2-40B4-BE49-F238E27FC236}">
                <a16:creationId xmlns:a16="http://schemas.microsoft.com/office/drawing/2014/main" id="{679FD1E4-E1E8-FA5C-6E47-95A967C42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4425" y="1825625"/>
            <a:ext cx="5520267" cy="31051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80ACD58-5CBE-4AF6-EC74-E398CFA01D48}"/>
              </a:ext>
            </a:extLst>
          </p:cNvPr>
          <p:cNvSpPr txBox="1"/>
          <p:nvPr/>
        </p:nvSpPr>
        <p:spPr>
          <a:xfrm>
            <a:off x="5143500" y="5019675"/>
            <a:ext cx="5343525" cy="646331"/>
          </a:xfrm>
          <a:prstGeom prst="rect">
            <a:avLst/>
          </a:prstGeom>
          <a:noFill/>
        </p:spPr>
        <p:txBody>
          <a:bodyPr wrap="square" rtlCol="0">
            <a:spAutoFit/>
          </a:bodyPr>
          <a:lstStyle/>
          <a:p>
            <a:r>
              <a:rPr lang="en-US" dirty="0"/>
              <a:t>Sustainability Roadmap</a:t>
            </a:r>
          </a:p>
          <a:p>
            <a:r>
              <a:rPr lang="en-US" dirty="0"/>
              <a:t>Source: IEA (2023)</a:t>
            </a:r>
          </a:p>
        </p:txBody>
      </p:sp>
    </p:spTree>
    <p:extLst>
      <p:ext uri="{BB962C8B-B14F-4D97-AF65-F5344CB8AC3E}">
        <p14:creationId xmlns:p14="http://schemas.microsoft.com/office/powerpoint/2010/main" val="1801578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1DE7C-82F2-7D4E-EB3F-31D5B76AB91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B21CB71-1278-A5E1-335A-101AC69B8633}"/>
              </a:ext>
            </a:extLst>
          </p:cNvPr>
          <p:cNvSpPr>
            <a:spLocks noGrp="1"/>
          </p:cNvSpPr>
          <p:nvPr>
            <p:ph idx="1"/>
          </p:nvPr>
        </p:nvSpPr>
        <p:spPr>
          <a:xfrm>
            <a:off x="838200" y="1558925"/>
            <a:ext cx="10515600" cy="3794125"/>
          </a:xfrm>
        </p:spPr>
        <p:txBody>
          <a:bodyPr>
            <a:normAutofit/>
          </a:bodyPr>
          <a:lstStyle/>
          <a:p>
            <a:r>
              <a:rPr lang="en-US" dirty="0"/>
              <a:t>Deloitte (2023). </a:t>
            </a:r>
            <a:r>
              <a:rPr lang="en-US" i="1" dirty="0"/>
              <a:t>The sustainability advantage: Driving long-term business performance</a:t>
            </a:r>
            <a:r>
              <a:rPr lang="en-US" dirty="0"/>
              <a:t>. Deloitte Insights.</a:t>
            </a:r>
          </a:p>
          <a:p>
            <a:r>
              <a:rPr lang="en-US" dirty="0"/>
              <a:t>IEA. </a:t>
            </a:r>
            <a:r>
              <a:rPr lang="en-US" i="1" dirty="0"/>
              <a:t>Energy Efficiency </a:t>
            </a:r>
            <a:r>
              <a:rPr lang="en-US" dirty="0"/>
              <a:t>2023. IEA</a:t>
            </a:r>
          </a:p>
          <a:p>
            <a:r>
              <a:rPr lang="en-US" dirty="0"/>
              <a:t>ISO (2024). ISO </a:t>
            </a:r>
            <a:r>
              <a:rPr lang="en-US" i="1" dirty="0"/>
              <a:t>14001: Environmental management systems – Requirements with guidance for use</a:t>
            </a:r>
            <a:r>
              <a:rPr lang="en-US" dirty="0"/>
              <a:t>. ISO.</a:t>
            </a:r>
          </a:p>
          <a:p>
            <a:r>
              <a:rPr lang="en-US" dirty="0"/>
              <a:t>United Nations (2023). </a:t>
            </a:r>
            <a:r>
              <a:rPr lang="en-US" i="1" dirty="0"/>
              <a:t>The sustainable development goals report 2023</a:t>
            </a:r>
            <a:r>
              <a:rPr lang="en-US" dirty="0"/>
              <a:t>. United Nations.</a:t>
            </a:r>
          </a:p>
          <a:p>
            <a:r>
              <a:rPr lang="en-US" dirty="0"/>
              <a:t>PWC (2024). </a:t>
            </a:r>
            <a:r>
              <a:rPr lang="en-US" i="1" dirty="0"/>
              <a:t>Global ESG investor survey 2024</a:t>
            </a:r>
            <a:r>
              <a:rPr lang="en-US" dirty="0"/>
              <a:t>. PwC</a:t>
            </a:r>
          </a:p>
          <a:p>
            <a:pPr marL="0" indent="0">
              <a:buNone/>
            </a:pPr>
            <a:endParaRPr lang="en-US" dirty="0"/>
          </a:p>
        </p:txBody>
      </p:sp>
    </p:spTree>
    <p:extLst>
      <p:ext uri="{BB962C8B-B14F-4D97-AF65-F5344CB8AC3E}">
        <p14:creationId xmlns:p14="http://schemas.microsoft.com/office/powerpoint/2010/main" val="2633902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1628</Words>
  <Application>Microsoft Office PowerPoint</Application>
  <PresentationFormat>Widescreen</PresentationFormat>
  <Paragraphs>137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Sustainability and Environmental Management Systems</vt:lpstr>
      <vt:lpstr>What is Sustainability?</vt:lpstr>
      <vt:lpstr>Main Areas of Sustainability.</vt:lpstr>
      <vt:lpstr>Sustainability in Business Setup.</vt:lpstr>
      <vt:lpstr>Accountability and Assumptions.</vt:lpstr>
      <vt:lpstr>Environmental Management System, what is it?</vt:lpstr>
      <vt:lpstr>Purpose of an EMS</vt:lpstr>
      <vt:lpstr>How EMS Works</vt:lpstr>
      <vt:lpstr>Connection between sustainability and EMS.</vt:lpstr>
      <vt:lpstr>The way sustainability designs EMS.</vt:lpstr>
      <vt:lpstr>The Need for Sustainability in Organizations.</vt:lpstr>
      <vt:lpstr>Pressures on Organizations Which are external.</vt:lpstr>
      <vt:lpstr>The support of EMS to sustainability.</vt:lpstr>
      <vt:lpstr>Continuous Improvement.</vt:lpstr>
      <vt:lpstr>EMS Operational Benefits.</vt:lpstr>
      <vt:lpstr>Strategic Advantages to EMS.</vt:lpstr>
      <vt:lpstr> 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Clau Kegode</dc:creator>
  <cp:lastModifiedBy>Clau Kegode</cp:lastModifiedBy>
  <cp:revision>1</cp:revision>
  <dcterms:created xsi:type="dcterms:W3CDTF">2026-03-20T11:50:02Z</dcterms:created>
  <dcterms:modified xsi:type="dcterms:W3CDTF">2026-03-20T13:14:49Z</dcterms:modified>
</cp:coreProperties>
</file>